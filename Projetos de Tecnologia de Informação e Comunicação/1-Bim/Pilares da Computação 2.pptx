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114" d="100"/>
          <a:sy n="114" d="100"/>
        </p:scale>
        <p:origin x="4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0EE8A4-FC36-4E94-93C1-480F0A9CEDD0}" type="datetimeFigureOut">
              <a:rPr lang="pt-BR" smtClean="0"/>
              <a:t>05/05/2026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97F35-F6A8-4D5E-BD29-0E61909E558F}" type="slidenum">
              <a:rPr lang="pt-BR" smtClean="0"/>
              <a:t>‹nº›</a:t>
            </a:fld>
            <a:endParaRPr lang="pt-BR"/>
          </a:p>
        </p:txBody>
      </p:sp>
    </p:spTree>
    <p:extLst>
      <p:ext uri="{BB962C8B-B14F-4D97-AF65-F5344CB8AC3E}">
        <p14:creationId xmlns:p14="http://schemas.microsoft.com/office/powerpoint/2010/main" val="3356406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92572-D7D1-A42F-6B32-65FD6B7B8D4F}"/>
              </a:ext>
            </a:extLst>
          </p:cNvPr>
          <p:cNvSpPr>
            <a:spLocks noGrp="1"/>
          </p:cNvSpPr>
          <p:nvPr>
            <p:ph type="ctrTitle"/>
          </p:nvPr>
        </p:nvSpPr>
        <p:spPr>
          <a:xfrm>
            <a:off x="1524000" y="1122363"/>
            <a:ext cx="9144000" cy="2387600"/>
          </a:xfrm>
        </p:spPr>
        <p:txBody>
          <a:bodyPr anchor="b"/>
          <a:lstStyle>
            <a:lvl1pPr algn="ctr">
              <a:defRPr sz="6000"/>
            </a:lvl1pPr>
          </a:lstStyle>
          <a:p>
            <a:r>
              <a:rPr lang="pt-BR" dirty="0"/>
              <a:t>Clique para editar o título Mestre</a:t>
            </a:r>
          </a:p>
        </p:txBody>
      </p:sp>
      <p:sp>
        <p:nvSpPr>
          <p:cNvPr id="3" name="Subtítulo 2">
            <a:extLst>
              <a:ext uri="{FF2B5EF4-FFF2-40B4-BE49-F238E27FC236}">
                <a16:creationId xmlns:a16="http://schemas.microsoft.com/office/drawing/2014/main" id="{0A538505-9400-8CBB-80BC-854E0F97C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20AC28C9-A001-6E9D-1329-0418F6F31D13}"/>
              </a:ext>
            </a:extLst>
          </p:cNvPr>
          <p:cNvSpPr>
            <a:spLocks noGrp="1"/>
          </p:cNvSpPr>
          <p:nvPr>
            <p:ph type="dt" sz="half" idx="10"/>
          </p:nvPr>
        </p:nvSpPr>
        <p:spPr/>
        <p:txBody>
          <a:bodyPr/>
          <a:lstStyle/>
          <a:p>
            <a:fld id="{4C961D70-31DF-410A-9D1B-5B6070B723CE}" type="datetime1">
              <a:rPr lang="pt-BR" smtClean="0"/>
              <a:t>05/05/2026</a:t>
            </a:fld>
            <a:endParaRPr lang="pt-BR"/>
          </a:p>
        </p:txBody>
      </p:sp>
      <p:sp>
        <p:nvSpPr>
          <p:cNvPr id="5" name="Espaço Reservado para Rodapé 4">
            <a:extLst>
              <a:ext uri="{FF2B5EF4-FFF2-40B4-BE49-F238E27FC236}">
                <a16:creationId xmlns:a16="http://schemas.microsoft.com/office/drawing/2014/main" id="{138AA87C-B35D-9DA2-8820-6C8AAD43DECB}"/>
              </a:ext>
            </a:extLst>
          </p:cNvPr>
          <p:cNvSpPr>
            <a:spLocks noGrp="1"/>
          </p:cNvSpPr>
          <p:nvPr>
            <p:ph type="ftr" sz="quarter" idx="11"/>
          </p:nvPr>
        </p:nvSpPr>
        <p:spPr/>
        <p:txBody>
          <a:bodyPr/>
          <a:lstStyle/>
          <a:p>
            <a:r>
              <a:rPr lang="pt-BR"/>
              <a:t>EtecVav</a:t>
            </a:r>
          </a:p>
        </p:txBody>
      </p:sp>
      <p:sp>
        <p:nvSpPr>
          <p:cNvPr id="6" name="Espaço Reservado para Número de Slide 5">
            <a:extLst>
              <a:ext uri="{FF2B5EF4-FFF2-40B4-BE49-F238E27FC236}">
                <a16:creationId xmlns:a16="http://schemas.microsoft.com/office/drawing/2014/main" id="{B55E19D0-C374-7CFD-61CE-5D839D372271}"/>
              </a:ext>
            </a:extLst>
          </p:cNvPr>
          <p:cNvSpPr>
            <a:spLocks noGrp="1"/>
          </p:cNvSpPr>
          <p:nvPr>
            <p:ph type="sldNum" sz="quarter" idx="12"/>
          </p:nvPr>
        </p:nvSpPr>
        <p:spPr/>
        <p:txBody>
          <a:bodyPr/>
          <a:lstStyle/>
          <a:p>
            <a:fld id="{4984923B-3F40-49CB-9B79-A738AB3B4A3B}" type="slidenum">
              <a:rPr lang="pt-BR" smtClean="0"/>
              <a:t>‹nº›</a:t>
            </a:fld>
            <a:endParaRPr lang="pt-BR"/>
          </a:p>
        </p:txBody>
      </p:sp>
    </p:spTree>
    <p:extLst>
      <p:ext uri="{BB962C8B-B14F-4D97-AF65-F5344CB8AC3E}">
        <p14:creationId xmlns:p14="http://schemas.microsoft.com/office/powerpoint/2010/main" val="43463919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ED0E59-9E51-BF94-37FA-FFC1419F18AF}"/>
              </a:ext>
            </a:extLst>
          </p:cNvPr>
          <p:cNvSpPr>
            <a:spLocks noGrp="1"/>
          </p:cNvSpPr>
          <p:nvPr>
            <p:ph type="title"/>
          </p:nvPr>
        </p:nvSpPr>
        <p:spPr/>
        <p:txBody>
          <a:bodyPr/>
          <a:lstStyle>
            <a:lvl1pPr>
              <a:defRPr b="1">
                <a:latin typeface="Book Antiqua" panose="02040602050305030304" pitchFamily="18" charset="0"/>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2FA3D915-82DB-C361-9916-6EE87E8BCC82}"/>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525ECD2B-B12E-FFE0-B2CC-509FCCB0D6C2}"/>
              </a:ext>
            </a:extLst>
          </p:cNvPr>
          <p:cNvSpPr>
            <a:spLocks noGrp="1"/>
          </p:cNvSpPr>
          <p:nvPr>
            <p:ph type="dt" sz="half" idx="10"/>
          </p:nvPr>
        </p:nvSpPr>
        <p:spPr/>
        <p:txBody>
          <a:bodyPr/>
          <a:lstStyle/>
          <a:p>
            <a:fld id="{C262E801-20EE-412B-9A5D-2F61547BED0E}" type="datetime1">
              <a:rPr lang="pt-BR" smtClean="0"/>
              <a:t>05/05/2026</a:t>
            </a:fld>
            <a:endParaRPr lang="pt-BR"/>
          </a:p>
        </p:txBody>
      </p:sp>
      <p:sp>
        <p:nvSpPr>
          <p:cNvPr id="5" name="Espaço Reservado para Rodapé 4">
            <a:extLst>
              <a:ext uri="{FF2B5EF4-FFF2-40B4-BE49-F238E27FC236}">
                <a16:creationId xmlns:a16="http://schemas.microsoft.com/office/drawing/2014/main" id="{3C56470A-0271-B949-7073-EBFF659C5B67}"/>
              </a:ext>
            </a:extLst>
          </p:cNvPr>
          <p:cNvSpPr>
            <a:spLocks noGrp="1"/>
          </p:cNvSpPr>
          <p:nvPr>
            <p:ph type="ftr" sz="quarter" idx="11"/>
          </p:nvPr>
        </p:nvSpPr>
        <p:spPr/>
        <p:txBody>
          <a:bodyPr/>
          <a:lstStyle/>
          <a:p>
            <a:r>
              <a:rPr lang="pt-BR"/>
              <a:t>EtecVav</a:t>
            </a:r>
          </a:p>
        </p:txBody>
      </p:sp>
      <p:sp>
        <p:nvSpPr>
          <p:cNvPr id="6" name="Espaço Reservado para Número de Slide 5">
            <a:extLst>
              <a:ext uri="{FF2B5EF4-FFF2-40B4-BE49-F238E27FC236}">
                <a16:creationId xmlns:a16="http://schemas.microsoft.com/office/drawing/2014/main" id="{47E03BEB-E264-88B3-A807-A3CBC6CE77EB}"/>
              </a:ext>
            </a:extLst>
          </p:cNvPr>
          <p:cNvSpPr>
            <a:spLocks noGrp="1"/>
          </p:cNvSpPr>
          <p:nvPr>
            <p:ph type="sldNum" sz="quarter" idx="12"/>
          </p:nvPr>
        </p:nvSpPr>
        <p:spPr/>
        <p:txBody>
          <a:bodyPr/>
          <a:lstStyle/>
          <a:p>
            <a:fld id="{4984923B-3F40-49CB-9B79-A738AB3B4A3B}" type="slidenum">
              <a:rPr lang="pt-BR" smtClean="0"/>
              <a:t>‹nº›</a:t>
            </a:fld>
            <a:endParaRPr lang="pt-BR"/>
          </a:p>
        </p:txBody>
      </p:sp>
    </p:spTree>
    <p:extLst>
      <p:ext uri="{BB962C8B-B14F-4D97-AF65-F5344CB8AC3E}">
        <p14:creationId xmlns:p14="http://schemas.microsoft.com/office/powerpoint/2010/main" val="401651226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31C757-4A8F-C8A8-D158-6D2FE4781FAC}"/>
              </a:ext>
            </a:extLst>
          </p:cNvPr>
          <p:cNvSpPr>
            <a:spLocks noGrp="1"/>
          </p:cNvSpPr>
          <p:nvPr>
            <p:ph type="title"/>
          </p:nvPr>
        </p:nvSpPr>
        <p:spPr>
          <a:xfrm>
            <a:off x="838200" y="842168"/>
            <a:ext cx="10515600" cy="2852737"/>
          </a:xfrm>
        </p:spPr>
        <p:txBody>
          <a:bodyPr anchor="b"/>
          <a:lstStyle>
            <a:lvl1pPr>
              <a:defRPr sz="6000">
                <a:solidFill>
                  <a:schemeClr val="tx1"/>
                </a:solidFill>
                <a:latin typeface="Book Antiqua" panose="02040602050305030304" pitchFamily="18" charset="0"/>
              </a:defRPr>
            </a:lvl1pPr>
          </a:lstStyle>
          <a:p>
            <a:r>
              <a:rPr lang="pt-BR" dirty="0"/>
              <a:t>Clique para editar o título Mestre</a:t>
            </a:r>
          </a:p>
        </p:txBody>
      </p:sp>
      <p:sp>
        <p:nvSpPr>
          <p:cNvPr id="3" name="Espaço Reservado para Texto 2">
            <a:extLst>
              <a:ext uri="{FF2B5EF4-FFF2-40B4-BE49-F238E27FC236}">
                <a16:creationId xmlns:a16="http://schemas.microsoft.com/office/drawing/2014/main" id="{5C3EB291-08D1-C077-7535-716369F54E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E165A768-1E46-E95F-0804-6602DFC25C10}"/>
              </a:ext>
            </a:extLst>
          </p:cNvPr>
          <p:cNvSpPr>
            <a:spLocks noGrp="1"/>
          </p:cNvSpPr>
          <p:nvPr>
            <p:ph type="dt" sz="half" idx="10"/>
          </p:nvPr>
        </p:nvSpPr>
        <p:spPr/>
        <p:txBody>
          <a:bodyPr/>
          <a:lstStyle/>
          <a:p>
            <a:fld id="{725B47F9-1722-4AAE-9328-F5BD498837FA}" type="datetime1">
              <a:rPr lang="pt-BR" smtClean="0"/>
              <a:t>05/05/2026</a:t>
            </a:fld>
            <a:endParaRPr lang="pt-BR"/>
          </a:p>
        </p:txBody>
      </p:sp>
      <p:sp>
        <p:nvSpPr>
          <p:cNvPr id="5" name="Espaço Reservado para Rodapé 4">
            <a:extLst>
              <a:ext uri="{FF2B5EF4-FFF2-40B4-BE49-F238E27FC236}">
                <a16:creationId xmlns:a16="http://schemas.microsoft.com/office/drawing/2014/main" id="{7B8C0A4F-152F-33D6-7498-B96559C645C3}"/>
              </a:ext>
            </a:extLst>
          </p:cNvPr>
          <p:cNvSpPr>
            <a:spLocks noGrp="1"/>
          </p:cNvSpPr>
          <p:nvPr>
            <p:ph type="ftr" sz="quarter" idx="11"/>
          </p:nvPr>
        </p:nvSpPr>
        <p:spPr/>
        <p:txBody>
          <a:bodyPr/>
          <a:lstStyle/>
          <a:p>
            <a:r>
              <a:rPr lang="pt-BR"/>
              <a:t>EtecVav</a:t>
            </a:r>
          </a:p>
        </p:txBody>
      </p:sp>
      <p:sp>
        <p:nvSpPr>
          <p:cNvPr id="6" name="Espaço Reservado para Número de Slide 5">
            <a:extLst>
              <a:ext uri="{FF2B5EF4-FFF2-40B4-BE49-F238E27FC236}">
                <a16:creationId xmlns:a16="http://schemas.microsoft.com/office/drawing/2014/main" id="{48C6E201-7C53-796C-8D94-6E9E50563B83}"/>
              </a:ext>
            </a:extLst>
          </p:cNvPr>
          <p:cNvSpPr>
            <a:spLocks noGrp="1"/>
          </p:cNvSpPr>
          <p:nvPr>
            <p:ph type="sldNum" sz="quarter" idx="12"/>
          </p:nvPr>
        </p:nvSpPr>
        <p:spPr/>
        <p:txBody>
          <a:bodyPr/>
          <a:lstStyle/>
          <a:p>
            <a:fld id="{4984923B-3F40-49CB-9B79-A738AB3B4A3B}" type="slidenum">
              <a:rPr lang="pt-BR" smtClean="0"/>
              <a:t>‹nº›</a:t>
            </a:fld>
            <a:endParaRPr lang="pt-BR"/>
          </a:p>
        </p:txBody>
      </p:sp>
    </p:spTree>
    <p:extLst>
      <p:ext uri="{BB962C8B-B14F-4D97-AF65-F5344CB8AC3E}">
        <p14:creationId xmlns:p14="http://schemas.microsoft.com/office/powerpoint/2010/main" val="258150626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56F7C0-A716-9B96-D78E-BDF31018466B}"/>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ACF9B38B-AB56-1AD5-DA0F-BC626A765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9904BF5-5280-6BB9-EF9A-6589F92DC886}"/>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79319792-0C90-A00A-F573-18562709F6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1FD937CF-D37F-6372-48FF-AB176F9AE5EF}"/>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D07ADC3D-2D6F-D9A6-D9F3-89454841A4A7}"/>
              </a:ext>
            </a:extLst>
          </p:cNvPr>
          <p:cNvSpPr>
            <a:spLocks noGrp="1"/>
          </p:cNvSpPr>
          <p:nvPr>
            <p:ph type="dt" sz="half" idx="10"/>
          </p:nvPr>
        </p:nvSpPr>
        <p:spPr/>
        <p:txBody>
          <a:bodyPr/>
          <a:lstStyle/>
          <a:p>
            <a:fld id="{F079E423-BA70-4A48-98FA-2733F85B6DE8}" type="datetime1">
              <a:rPr lang="pt-BR" smtClean="0"/>
              <a:t>05/05/2026</a:t>
            </a:fld>
            <a:endParaRPr lang="pt-BR"/>
          </a:p>
        </p:txBody>
      </p:sp>
      <p:sp>
        <p:nvSpPr>
          <p:cNvPr id="8" name="Espaço Reservado para Rodapé 7">
            <a:extLst>
              <a:ext uri="{FF2B5EF4-FFF2-40B4-BE49-F238E27FC236}">
                <a16:creationId xmlns:a16="http://schemas.microsoft.com/office/drawing/2014/main" id="{265F25B8-6A4D-7D96-9A40-B9BCE5BFFF2B}"/>
              </a:ext>
            </a:extLst>
          </p:cNvPr>
          <p:cNvSpPr>
            <a:spLocks noGrp="1"/>
          </p:cNvSpPr>
          <p:nvPr>
            <p:ph type="ftr" sz="quarter" idx="11"/>
          </p:nvPr>
        </p:nvSpPr>
        <p:spPr/>
        <p:txBody>
          <a:bodyPr/>
          <a:lstStyle/>
          <a:p>
            <a:r>
              <a:rPr lang="pt-BR"/>
              <a:t>EtecVav</a:t>
            </a:r>
          </a:p>
        </p:txBody>
      </p:sp>
      <p:sp>
        <p:nvSpPr>
          <p:cNvPr id="9" name="Espaço Reservado para Número de Slide 8">
            <a:extLst>
              <a:ext uri="{FF2B5EF4-FFF2-40B4-BE49-F238E27FC236}">
                <a16:creationId xmlns:a16="http://schemas.microsoft.com/office/drawing/2014/main" id="{BE83EF6C-D904-935D-5012-7E468873BD25}"/>
              </a:ext>
            </a:extLst>
          </p:cNvPr>
          <p:cNvSpPr>
            <a:spLocks noGrp="1"/>
          </p:cNvSpPr>
          <p:nvPr>
            <p:ph type="sldNum" sz="quarter" idx="12"/>
          </p:nvPr>
        </p:nvSpPr>
        <p:spPr/>
        <p:txBody>
          <a:bodyPr/>
          <a:lstStyle/>
          <a:p>
            <a:fld id="{4984923B-3F40-49CB-9B79-A738AB3B4A3B}" type="slidenum">
              <a:rPr lang="pt-BR" smtClean="0"/>
              <a:t>‹nº›</a:t>
            </a:fld>
            <a:endParaRPr lang="pt-BR"/>
          </a:p>
        </p:txBody>
      </p:sp>
    </p:spTree>
    <p:extLst>
      <p:ext uri="{BB962C8B-B14F-4D97-AF65-F5344CB8AC3E}">
        <p14:creationId xmlns:p14="http://schemas.microsoft.com/office/powerpoint/2010/main" val="3269089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F1FDF-89A3-6202-3D43-3E393653E0E7}"/>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C61464E-0106-EA9C-6F55-4E4CA4D63A33}"/>
              </a:ext>
            </a:extLst>
          </p:cNvPr>
          <p:cNvSpPr>
            <a:spLocks noGrp="1"/>
          </p:cNvSpPr>
          <p:nvPr>
            <p:ph type="dt" sz="half" idx="10"/>
          </p:nvPr>
        </p:nvSpPr>
        <p:spPr/>
        <p:txBody>
          <a:bodyPr/>
          <a:lstStyle/>
          <a:p>
            <a:fld id="{F56A6957-A1BA-4835-B9C7-A87DE7498B0F}" type="datetime1">
              <a:rPr lang="pt-BR" smtClean="0"/>
              <a:t>05/05/2026</a:t>
            </a:fld>
            <a:endParaRPr lang="pt-BR"/>
          </a:p>
        </p:txBody>
      </p:sp>
      <p:sp>
        <p:nvSpPr>
          <p:cNvPr id="4" name="Espaço Reservado para Rodapé 3">
            <a:extLst>
              <a:ext uri="{FF2B5EF4-FFF2-40B4-BE49-F238E27FC236}">
                <a16:creationId xmlns:a16="http://schemas.microsoft.com/office/drawing/2014/main" id="{3CB354F8-5A5E-84FC-18C3-9D906A5D17BF}"/>
              </a:ext>
            </a:extLst>
          </p:cNvPr>
          <p:cNvSpPr>
            <a:spLocks noGrp="1"/>
          </p:cNvSpPr>
          <p:nvPr>
            <p:ph type="ftr" sz="quarter" idx="11"/>
          </p:nvPr>
        </p:nvSpPr>
        <p:spPr/>
        <p:txBody>
          <a:bodyPr/>
          <a:lstStyle/>
          <a:p>
            <a:r>
              <a:rPr lang="pt-BR"/>
              <a:t>EtecVav</a:t>
            </a:r>
          </a:p>
        </p:txBody>
      </p:sp>
      <p:sp>
        <p:nvSpPr>
          <p:cNvPr id="5" name="Espaço Reservado para Número de Slide 4">
            <a:extLst>
              <a:ext uri="{FF2B5EF4-FFF2-40B4-BE49-F238E27FC236}">
                <a16:creationId xmlns:a16="http://schemas.microsoft.com/office/drawing/2014/main" id="{C9099A26-7790-11D8-7397-8A2E632CC0B1}"/>
              </a:ext>
            </a:extLst>
          </p:cNvPr>
          <p:cNvSpPr>
            <a:spLocks noGrp="1"/>
          </p:cNvSpPr>
          <p:nvPr>
            <p:ph type="sldNum" sz="quarter" idx="12"/>
          </p:nvPr>
        </p:nvSpPr>
        <p:spPr/>
        <p:txBody>
          <a:bodyPr/>
          <a:lstStyle/>
          <a:p>
            <a:fld id="{4984923B-3F40-49CB-9B79-A738AB3B4A3B}" type="slidenum">
              <a:rPr lang="pt-BR" smtClean="0"/>
              <a:t>‹nº›</a:t>
            </a:fld>
            <a:endParaRPr lang="pt-BR"/>
          </a:p>
        </p:txBody>
      </p:sp>
    </p:spTree>
    <p:extLst>
      <p:ext uri="{BB962C8B-B14F-4D97-AF65-F5344CB8AC3E}">
        <p14:creationId xmlns:p14="http://schemas.microsoft.com/office/powerpoint/2010/main" val="28241457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2CDDC39-3AC9-278E-4440-DF1FBD75E8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dirty="0"/>
              <a:t>Clique para editar o título Mestre</a:t>
            </a:r>
          </a:p>
        </p:txBody>
      </p:sp>
      <p:sp>
        <p:nvSpPr>
          <p:cNvPr id="3" name="Espaço Reservado para Texto 2">
            <a:extLst>
              <a:ext uri="{FF2B5EF4-FFF2-40B4-BE49-F238E27FC236}">
                <a16:creationId xmlns:a16="http://schemas.microsoft.com/office/drawing/2014/main" id="{C3FECCC4-7E3E-7AE9-A681-0A314C1172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7E76273-380E-C7B5-76A0-9443805BC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755945-2D90-433D-B432-010BD3D70759}" type="datetime1">
              <a:rPr lang="pt-BR" smtClean="0"/>
              <a:t>05/05/2026</a:t>
            </a:fld>
            <a:endParaRPr lang="pt-BR"/>
          </a:p>
        </p:txBody>
      </p:sp>
      <p:sp>
        <p:nvSpPr>
          <p:cNvPr id="5" name="Espaço Reservado para Rodapé 4">
            <a:extLst>
              <a:ext uri="{FF2B5EF4-FFF2-40B4-BE49-F238E27FC236}">
                <a16:creationId xmlns:a16="http://schemas.microsoft.com/office/drawing/2014/main" id="{8BA6F47E-83E4-A550-983A-CF72824B24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pt-BR"/>
              <a:t>EtecVav</a:t>
            </a:r>
          </a:p>
        </p:txBody>
      </p:sp>
      <p:sp>
        <p:nvSpPr>
          <p:cNvPr id="6" name="Espaço Reservado para Número de Slide 5">
            <a:extLst>
              <a:ext uri="{FF2B5EF4-FFF2-40B4-BE49-F238E27FC236}">
                <a16:creationId xmlns:a16="http://schemas.microsoft.com/office/drawing/2014/main" id="{BA4EBE2A-8426-5B06-AFB7-C7543EBB04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84923B-3F40-49CB-9B79-A738AB3B4A3B}" type="slidenum">
              <a:rPr lang="pt-BR" smtClean="0"/>
              <a:t>‹nº›</a:t>
            </a:fld>
            <a:endParaRPr lang="pt-BR"/>
          </a:p>
        </p:txBody>
      </p:sp>
    </p:spTree>
    <p:extLst>
      <p:ext uri="{BB962C8B-B14F-4D97-AF65-F5344CB8AC3E}">
        <p14:creationId xmlns:p14="http://schemas.microsoft.com/office/powerpoint/2010/main" val="3960684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Lst>
  <p:timing>
    <p:tnLst>
      <p:par>
        <p:cTn id="1" dur="indefinite" restart="never" nodeType="tmRoot"/>
      </p:par>
    </p:tnLst>
  </p:timing>
  <p:hf hdr="0" dt="0"/>
  <p:txStyles>
    <p:title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p:cNvSpPr/>
          <p:nvPr/>
        </p:nvSpPr>
        <p:spPr>
          <a:xfrm>
            <a:off x="11153750" y="0"/>
            <a:ext cx="1031846"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a:extLst>
              <a:ext uri="{FF2B5EF4-FFF2-40B4-BE49-F238E27FC236}">
                <a16:creationId xmlns:a16="http://schemas.microsoft.com/office/drawing/2014/main" id="{F0596729-C2DA-20F4-2A41-0102BBB9E7D8}"/>
              </a:ext>
            </a:extLst>
          </p:cNvPr>
          <p:cNvSpPr>
            <a:spLocks noGrp="1"/>
          </p:cNvSpPr>
          <p:nvPr>
            <p:ph type="ctrTitle"/>
          </p:nvPr>
        </p:nvSpPr>
        <p:spPr/>
        <p:txBody>
          <a:bodyPr/>
          <a:lstStyle/>
          <a:p>
            <a:r>
              <a:rPr lang="pt-BR" dirty="0">
                <a:solidFill>
                  <a:schemeClr val="accent1">
                    <a:lumMod val="75000"/>
                  </a:schemeClr>
                </a:solidFill>
                <a:latin typeface="Book Antiqua" panose="02040602050305030304" pitchFamily="18" charset="0"/>
              </a:rPr>
              <a:t>Pilares da Computação</a:t>
            </a:r>
          </a:p>
        </p:txBody>
      </p:sp>
      <p:sp>
        <p:nvSpPr>
          <p:cNvPr id="3" name="Subtítulo 2">
            <a:extLst>
              <a:ext uri="{FF2B5EF4-FFF2-40B4-BE49-F238E27FC236}">
                <a16:creationId xmlns:a16="http://schemas.microsoft.com/office/drawing/2014/main" id="{821DB23E-168E-958B-7E9A-52C2D3A42723}"/>
              </a:ext>
            </a:extLst>
          </p:cNvPr>
          <p:cNvSpPr>
            <a:spLocks noGrp="1"/>
          </p:cNvSpPr>
          <p:nvPr>
            <p:ph type="subTitle" idx="1"/>
          </p:nvPr>
        </p:nvSpPr>
        <p:spPr/>
        <p:txBody>
          <a:bodyPr/>
          <a:lstStyle/>
          <a:p>
            <a:r>
              <a:rPr lang="pt-BR" dirty="0"/>
              <a:t>Eduardo </a:t>
            </a:r>
            <a:r>
              <a:rPr lang="pt-BR" dirty="0" err="1"/>
              <a:t>Koehler</a:t>
            </a:r>
            <a:r>
              <a:rPr lang="pt-BR" dirty="0"/>
              <a:t> </a:t>
            </a:r>
            <a:r>
              <a:rPr lang="pt-BR" dirty="0" smtClean="0"/>
              <a:t>Oliveira</a:t>
            </a:r>
            <a:endParaRPr lang="pt-BR" dirty="0"/>
          </a:p>
          <a:p>
            <a:r>
              <a:rPr lang="pt-BR" dirty="0"/>
              <a:t>Giovanni </a:t>
            </a:r>
            <a:r>
              <a:rPr lang="pt-BR" dirty="0" err="1" smtClean="0"/>
              <a:t>Rovesta</a:t>
            </a:r>
            <a:endParaRPr lang="pt-BR" dirty="0"/>
          </a:p>
        </p:txBody>
      </p:sp>
      <p:sp>
        <p:nvSpPr>
          <p:cNvPr id="4" name="CaixaDeTexto 3">
            <a:extLst>
              <a:ext uri="{FF2B5EF4-FFF2-40B4-BE49-F238E27FC236}">
                <a16:creationId xmlns:a16="http://schemas.microsoft.com/office/drawing/2014/main" id="{BEDF57F8-EEC8-CB8B-F0D4-D012F23BFAB6}"/>
              </a:ext>
            </a:extLst>
          </p:cNvPr>
          <p:cNvSpPr txBox="1"/>
          <p:nvPr/>
        </p:nvSpPr>
        <p:spPr>
          <a:xfrm>
            <a:off x="5313433" y="6345816"/>
            <a:ext cx="1565134" cy="369332"/>
          </a:xfrm>
          <a:prstGeom prst="rect">
            <a:avLst/>
          </a:prstGeom>
          <a:noFill/>
        </p:spPr>
        <p:txBody>
          <a:bodyPr wrap="square" rtlCol="0">
            <a:spAutoFit/>
          </a:bodyPr>
          <a:lstStyle/>
          <a:p>
            <a:r>
              <a:rPr lang="pt-BR" dirty="0" smtClean="0"/>
              <a:t>27/04/2026</a:t>
            </a:r>
            <a:endParaRPr lang="pt-BR" dirty="0"/>
          </a:p>
        </p:txBody>
      </p:sp>
      <p:sp>
        <p:nvSpPr>
          <p:cNvPr id="5" name="Retângulo 4"/>
          <p:cNvSpPr/>
          <p:nvPr/>
        </p:nvSpPr>
        <p:spPr>
          <a:xfrm>
            <a:off x="0" y="0"/>
            <a:ext cx="1031846"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Meio-quadro 6"/>
          <p:cNvSpPr/>
          <p:nvPr/>
        </p:nvSpPr>
        <p:spPr>
          <a:xfrm>
            <a:off x="16777" y="-1"/>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8" name="Meio-quadro 7"/>
          <p:cNvSpPr/>
          <p:nvPr/>
        </p:nvSpPr>
        <p:spPr>
          <a:xfrm rot="5400000">
            <a:off x="10792436" y="-124436"/>
            <a:ext cx="1275128" cy="1524000"/>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 name="Meio-quadro 8"/>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095161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629364" y="2004968"/>
            <a:ext cx="5018712" cy="26400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p:cNvSpPr/>
          <p:nvPr/>
        </p:nvSpPr>
        <p:spPr>
          <a:xfrm>
            <a:off x="6012810" y="2004969"/>
            <a:ext cx="5158022" cy="2640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Título 3">
            <a:extLst>
              <a:ext uri="{FF2B5EF4-FFF2-40B4-BE49-F238E27FC236}">
                <a16:creationId xmlns:a16="http://schemas.microsoft.com/office/drawing/2014/main" id="{5F708506-A110-CA00-465B-D0870F583B79}"/>
              </a:ext>
            </a:extLst>
          </p:cNvPr>
          <p:cNvSpPr>
            <a:spLocks noGrp="1"/>
          </p:cNvSpPr>
          <p:nvPr>
            <p:ph type="title"/>
          </p:nvPr>
        </p:nvSpPr>
        <p:spPr>
          <a:xfrm>
            <a:off x="563605" y="544220"/>
            <a:ext cx="4796959" cy="1325563"/>
          </a:xfrm>
        </p:spPr>
        <p:txBody>
          <a:bodyPr>
            <a:noAutofit/>
          </a:bodyPr>
          <a:lstStyle/>
          <a:p>
            <a:r>
              <a:rPr lang="pt-BR" sz="4800" dirty="0">
                <a:latin typeface="Book Antiqua" panose="02040602050305030304" pitchFamily="18" charset="0"/>
              </a:rPr>
              <a:t>Apresentadores</a:t>
            </a:r>
          </a:p>
        </p:txBody>
      </p:sp>
      <p:sp>
        <p:nvSpPr>
          <p:cNvPr id="5" name="Espaço Reservado para Texto 4">
            <a:extLst>
              <a:ext uri="{FF2B5EF4-FFF2-40B4-BE49-F238E27FC236}">
                <a16:creationId xmlns:a16="http://schemas.microsoft.com/office/drawing/2014/main" id="{1B82B1DE-277D-4502-A0CC-81F81B53F872}"/>
              </a:ext>
            </a:extLst>
          </p:cNvPr>
          <p:cNvSpPr>
            <a:spLocks noGrp="1"/>
          </p:cNvSpPr>
          <p:nvPr>
            <p:ph type="body" idx="1"/>
          </p:nvPr>
        </p:nvSpPr>
        <p:spPr>
          <a:xfrm>
            <a:off x="663619" y="1681163"/>
            <a:ext cx="5157787" cy="823912"/>
          </a:xfrm>
        </p:spPr>
        <p:txBody>
          <a:bodyPr/>
          <a:lstStyle/>
          <a:p>
            <a:r>
              <a:rPr lang="pt-BR" i="1" dirty="0">
                <a:solidFill>
                  <a:schemeClr val="bg1"/>
                </a:solidFill>
              </a:rPr>
              <a:t>Eduardo Koehler Oliveira</a:t>
            </a:r>
          </a:p>
        </p:txBody>
      </p:sp>
      <p:sp>
        <p:nvSpPr>
          <p:cNvPr id="6" name="Espaço Reservado para Conteúdo 5">
            <a:extLst>
              <a:ext uri="{FF2B5EF4-FFF2-40B4-BE49-F238E27FC236}">
                <a16:creationId xmlns:a16="http://schemas.microsoft.com/office/drawing/2014/main" id="{0111A04F-2799-962B-2E73-603FB3E2EC1B}"/>
              </a:ext>
            </a:extLst>
          </p:cNvPr>
          <p:cNvSpPr>
            <a:spLocks noGrp="1"/>
          </p:cNvSpPr>
          <p:nvPr>
            <p:ph sz="half" idx="2"/>
          </p:nvPr>
        </p:nvSpPr>
        <p:spPr>
          <a:xfrm>
            <a:off x="663619" y="2505075"/>
            <a:ext cx="5157787" cy="3684588"/>
          </a:xfrm>
        </p:spPr>
        <p:txBody>
          <a:bodyPr>
            <a:normAutofit/>
          </a:bodyPr>
          <a:lstStyle/>
          <a:p>
            <a:pPr marL="0" indent="0">
              <a:buNone/>
            </a:pPr>
            <a:r>
              <a:rPr lang="pt-BR" sz="2000" dirty="0"/>
              <a:t>	</a:t>
            </a:r>
            <a:r>
              <a:rPr lang="pt-BR" sz="2000" dirty="0" smtClean="0">
                <a:solidFill>
                  <a:schemeClr val="bg1"/>
                </a:solidFill>
              </a:rPr>
              <a:t>Nasci </a:t>
            </a:r>
            <a:r>
              <a:rPr lang="pt-BR" sz="2000" dirty="0">
                <a:solidFill>
                  <a:schemeClr val="bg1"/>
                </a:solidFill>
              </a:rPr>
              <a:t>em Londrina no PR, mas morei em MT, RO, GO e agora estou aqui em Jundiaí.</a:t>
            </a:r>
          </a:p>
          <a:p>
            <a:pPr marL="0" indent="0">
              <a:buNone/>
            </a:pPr>
            <a:r>
              <a:rPr lang="pt-BR" sz="2000" dirty="0">
                <a:solidFill>
                  <a:schemeClr val="bg1"/>
                </a:solidFill>
              </a:rPr>
              <a:t>	</a:t>
            </a:r>
            <a:r>
              <a:rPr lang="pt-BR" sz="2000" dirty="0" smtClean="0">
                <a:solidFill>
                  <a:schemeClr val="bg1"/>
                </a:solidFill>
              </a:rPr>
              <a:t>Fiz </a:t>
            </a:r>
            <a:r>
              <a:rPr lang="pt-BR" sz="2000" dirty="0">
                <a:solidFill>
                  <a:schemeClr val="bg1"/>
                </a:solidFill>
              </a:rPr>
              <a:t>15 anos começo deste mês e estou gostando do </a:t>
            </a:r>
            <a:r>
              <a:rPr lang="pt-BR" sz="2000" dirty="0" smtClean="0">
                <a:solidFill>
                  <a:schemeClr val="bg1"/>
                </a:solidFill>
              </a:rPr>
              <a:t>curso</a:t>
            </a:r>
            <a:r>
              <a:rPr lang="pt-BR" sz="2000" dirty="0" smtClean="0">
                <a:solidFill>
                  <a:schemeClr val="bg1"/>
                </a:solidFill>
              </a:rPr>
              <a:t>.</a:t>
            </a:r>
            <a:endParaRPr lang="pt-BR" sz="2000" dirty="0">
              <a:solidFill>
                <a:schemeClr val="bg1"/>
              </a:solidFill>
            </a:endParaRPr>
          </a:p>
        </p:txBody>
      </p:sp>
      <p:sp>
        <p:nvSpPr>
          <p:cNvPr id="7" name="Espaço Reservado para Texto 6">
            <a:extLst>
              <a:ext uri="{FF2B5EF4-FFF2-40B4-BE49-F238E27FC236}">
                <a16:creationId xmlns:a16="http://schemas.microsoft.com/office/drawing/2014/main" id="{6ADDA4E8-8FEE-58C6-65FA-B8DA5A8601FF}"/>
              </a:ext>
            </a:extLst>
          </p:cNvPr>
          <p:cNvSpPr>
            <a:spLocks noGrp="1"/>
          </p:cNvSpPr>
          <p:nvPr>
            <p:ph type="body" sz="quarter" idx="3"/>
          </p:nvPr>
        </p:nvSpPr>
        <p:spPr>
          <a:xfrm>
            <a:off x="6012809" y="1681163"/>
            <a:ext cx="5183188" cy="823912"/>
          </a:xfrm>
        </p:spPr>
        <p:txBody>
          <a:bodyPr/>
          <a:lstStyle/>
          <a:p>
            <a:r>
              <a:rPr lang="pt-BR" i="1" dirty="0">
                <a:solidFill>
                  <a:schemeClr val="bg1"/>
                </a:solidFill>
              </a:rPr>
              <a:t>Giovanni Rovesta</a:t>
            </a:r>
          </a:p>
        </p:txBody>
      </p:sp>
      <p:sp>
        <p:nvSpPr>
          <p:cNvPr id="8" name="Espaço Reservado para Conteúdo 7">
            <a:extLst>
              <a:ext uri="{FF2B5EF4-FFF2-40B4-BE49-F238E27FC236}">
                <a16:creationId xmlns:a16="http://schemas.microsoft.com/office/drawing/2014/main" id="{330E3B11-FC8C-8CCB-E833-B76BF4B1477A}"/>
              </a:ext>
            </a:extLst>
          </p:cNvPr>
          <p:cNvSpPr>
            <a:spLocks noGrp="1"/>
          </p:cNvSpPr>
          <p:nvPr>
            <p:ph sz="quarter" idx="4"/>
          </p:nvPr>
        </p:nvSpPr>
        <p:spPr>
          <a:xfrm>
            <a:off x="5987644" y="2421185"/>
            <a:ext cx="5183188" cy="3684588"/>
          </a:xfrm>
        </p:spPr>
        <p:txBody>
          <a:bodyPr>
            <a:normAutofit/>
          </a:bodyPr>
          <a:lstStyle/>
          <a:p>
            <a:pPr marL="0" indent="0">
              <a:buNone/>
            </a:pPr>
            <a:r>
              <a:rPr lang="pt-BR" dirty="0">
                <a:solidFill>
                  <a:schemeClr val="bg1"/>
                </a:solidFill>
              </a:rPr>
              <a:t>	</a:t>
            </a:r>
            <a:r>
              <a:rPr lang="pt-BR" sz="2000" dirty="0" smtClean="0">
                <a:solidFill>
                  <a:schemeClr val="bg1"/>
                </a:solidFill>
              </a:rPr>
              <a:t>Nasci em Jundiaí em SP, minha família está localizada também em São Paulo e Socorro.</a:t>
            </a:r>
          </a:p>
          <a:p>
            <a:pPr marL="0" indent="0">
              <a:buNone/>
            </a:pPr>
            <a:r>
              <a:rPr lang="pt-BR" sz="2000" dirty="0" smtClean="0">
                <a:solidFill>
                  <a:schemeClr val="bg1"/>
                </a:solidFill>
              </a:rPr>
              <a:t>	Tenho 14 anos e estou estudando na EtecVAV no curso de </a:t>
            </a:r>
            <a:r>
              <a:rPr lang="pt-BR" sz="2000" dirty="0" err="1" smtClean="0">
                <a:solidFill>
                  <a:schemeClr val="bg1"/>
                </a:solidFill>
              </a:rPr>
              <a:t>InfoNet</a:t>
            </a:r>
            <a:r>
              <a:rPr lang="pt-BR" sz="2000" dirty="0" smtClean="0">
                <a:solidFill>
                  <a:schemeClr val="bg1"/>
                </a:solidFill>
              </a:rPr>
              <a:t>, e estou gostando.</a:t>
            </a:r>
            <a:endParaRPr lang="pt-BR" sz="2000" dirty="0">
              <a:solidFill>
                <a:schemeClr val="bg1"/>
              </a:solidFill>
            </a:endParaRPr>
          </a:p>
        </p:txBody>
      </p:sp>
      <p:sp>
        <p:nvSpPr>
          <p:cNvPr id="9" name="Espaço Reservado para Rodapé 8">
            <a:extLst>
              <a:ext uri="{FF2B5EF4-FFF2-40B4-BE49-F238E27FC236}">
                <a16:creationId xmlns:a16="http://schemas.microsoft.com/office/drawing/2014/main" id="{2CA0FBE7-C387-3FEB-0388-9517BD29DDA8}"/>
              </a:ext>
            </a:extLst>
          </p:cNvPr>
          <p:cNvSpPr>
            <a:spLocks noGrp="1"/>
          </p:cNvSpPr>
          <p:nvPr>
            <p:ph type="ftr" sz="quarter" idx="11"/>
          </p:nvPr>
        </p:nvSpPr>
        <p:spPr/>
        <p:txBody>
          <a:bodyPr/>
          <a:lstStyle/>
          <a:p>
            <a:r>
              <a:rPr lang="pt-BR"/>
              <a:t>EtecVav</a:t>
            </a:r>
          </a:p>
        </p:txBody>
      </p:sp>
      <p:sp>
        <p:nvSpPr>
          <p:cNvPr id="10" name="Espaço Reservado para Número de Slide 9">
            <a:extLst>
              <a:ext uri="{FF2B5EF4-FFF2-40B4-BE49-F238E27FC236}">
                <a16:creationId xmlns:a16="http://schemas.microsoft.com/office/drawing/2014/main" id="{5FE880BF-39AF-845E-618E-DC2E24C320C3}"/>
              </a:ext>
            </a:extLst>
          </p:cNvPr>
          <p:cNvSpPr>
            <a:spLocks noGrp="1"/>
          </p:cNvSpPr>
          <p:nvPr>
            <p:ph type="sldNum" sz="quarter" idx="12"/>
          </p:nvPr>
        </p:nvSpPr>
        <p:spPr/>
        <p:txBody>
          <a:bodyPr/>
          <a:lstStyle/>
          <a:p>
            <a:fld id="{4984923B-3F40-49CB-9B79-A738AB3B4A3B}" type="slidenum">
              <a:rPr lang="pt-BR" smtClean="0"/>
              <a:t>2</a:t>
            </a:fld>
            <a:endParaRPr lang="pt-BR"/>
          </a:p>
        </p:txBody>
      </p:sp>
      <p:sp>
        <p:nvSpPr>
          <p:cNvPr id="2" name="Retângulo Arredondado 1"/>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195106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974171" y="1465375"/>
            <a:ext cx="10243657" cy="4790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ítulo 6">
            <a:extLst>
              <a:ext uri="{FF2B5EF4-FFF2-40B4-BE49-F238E27FC236}">
                <a16:creationId xmlns:a16="http://schemas.microsoft.com/office/drawing/2014/main" id="{3C2986D1-A292-469C-377C-76F209988CFD}"/>
              </a:ext>
            </a:extLst>
          </p:cNvPr>
          <p:cNvSpPr>
            <a:spLocks noGrp="1"/>
          </p:cNvSpPr>
          <p:nvPr>
            <p:ph type="title"/>
          </p:nvPr>
        </p:nvSpPr>
        <p:spPr/>
        <p:txBody>
          <a:bodyPr/>
          <a:lstStyle/>
          <a:p>
            <a:pPr algn="ctr"/>
            <a:r>
              <a:rPr lang="pt-BR" dirty="0">
                <a:latin typeface="Book Antiqua" panose="02040602050305030304" pitchFamily="18" charset="0"/>
              </a:rPr>
              <a:t>Sumário</a:t>
            </a:r>
          </a:p>
        </p:txBody>
      </p:sp>
      <p:sp>
        <p:nvSpPr>
          <p:cNvPr id="9" name="CaixaDeTexto 8">
            <a:extLst>
              <a:ext uri="{FF2B5EF4-FFF2-40B4-BE49-F238E27FC236}">
                <a16:creationId xmlns:a16="http://schemas.microsoft.com/office/drawing/2014/main" id="{B22FA615-0E96-47AB-DBE2-B16B37F5C23A}"/>
              </a:ext>
            </a:extLst>
          </p:cNvPr>
          <p:cNvSpPr txBox="1"/>
          <p:nvPr/>
        </p:nvSpPr>
        <p:spPr>
          <a:xfrm>
            <a:off x="1198928" y="1550772"/>
            <a:ext cx="9347522" cy="4401205"/>
          </a:xfrm>
          <a:prstGeom prst="rect">
            <a:avLst/>
          </a:prstGeom>
          <a:noFill/>
        </p:spPr>
        <p:txBody>
          <a:bodyPr wrap="square" rtlCol="0">
            <a:spAutoFit/>
          </a:bodyPr>
          <a:lstStyle/>
          <a:p>
            <a:pPr marL="285750" indent="-285750">
              <a:buFont typeface="Arial" panose="020B0604020202020204" pitchFamily="34" charset="0"/>
              <a:buChar char="•"/>
            </a:pPr>
            <a:r>
              <a:rPr lang="pt-BR" sz="2000" dirty="0" smtClean="0">
                <a:solidFill>
                  <a:schemeClr val="bg1"/>
                </a:solidFill>
              </a:rPr>
              <a:t>Resumo</a:t>
            </a:r>
          </a:p>
          <a:p>
            <a:pPr marL="285750" indent="-285750">
              <a:buFont typeface="Arial" panose="020B0604020202020204" pitchFamily="34" charset="0"/>
              <a:buChar char="•"/>
            </a:pPr>
            <a:r>
              <a:rPr lang="pt-BR" sz="2000" dirty="0" smtClean="0">
                <a:solidFill>
                  <a:schemeClr val="bg1"/>
                </a:solidFill>
              </a:rPr>
              <a:t>Abstract </a:t>
            </a:r>
          </a:p>
          <a:p>
            <a:pPr marL="285750" indent="-285750">
              <a:buFont typeface="Arial" panose="020B0604020202020204" pitchFamily="34" charset="0"/>
              <a:buChar char="•"/>
            </a:pPr>
            <a:r>
              <a:rPr lang="pt-BR" sz="2000" dirty="0" smtClean="0">
                <a:solidFill>
                  <a:schemeClr val="bg1"/>
                </a:solidFill>
              </a:rPr>
              <a:t>Introdução </a:t>
            </a:r>
          </a:p>
          <a:p>
            <a:pPr marL="285750" indent="-285750">
              <a:buFont typeface="Arial" panose="020B0604020202020204" pitchFamily="34" charset="0"/>
              <a:buChar char="•"/>
            </a:pPr>
            <a:r>
              <a:rPr lang="pt-BR" sz="2000" dirty="0" smtClean="0">
                <a:solidFill>
                  <a:schemeClr val="bg1"/>
                </a:solidFill>
              </a:rPr>
              <a:t>A </a:t>
            </a:r>
            <a:r>
              <a:rPr lang="pt-BR" sz="2000" dirty="0">
                <a:solidFill>
                  <a:schemeClr val="bg1"/>
                </a:solidFill>
              </a:rPr>
              <a:t>Tecnologia no Nosso Dia a Dia </a:t>
            </a:r>
            <a:endParaRPr lang="pt-BR" sz="2000" dirty="0" smtClean="0">
              <a:solidFill>
                <a:schemeClr val="bg1"/>
              </a:solidFill>
            </a:endParaRPr>
          </a:p>
          <a:p>
            <a:pPr marL="285750" indent="-285750">
              <a:buFont typeface="Arial" panose="020B0604020202020204" pitchFamily="34" charset="0"/>
              <a:buChar char="•"/>
            </a:pPr>
            <a:r>
              <a:rPr lang="pt-BR" sz="2000" dirty="0" smtClean="0">
                <a:solidFill>
                  <a:schemeClr val="bg1"/>
                </a:solidFill>
              </a:rPr>
              <a:t>Inteligência </a:t>
            </a:r>
            <a:r>
              <a:rPr lang="pt-BR" sz="2000" dirty="0">
                <a:solidFill>
                  <a:schemeClr val="bg1"/>
                </a:solidFill>
              </a:rPr>
              <a:t>Artificial </a:t>
            </a:r>
            <a:endParaRPr lang="pt-BR" sz="2000" dirty="0" smtClean="0">
              <a:solidFill>
                <a:schemeClr val="bg1"/>
              </a:solidFill>
            </a:endParaRPr>
          </a:p>
          <a:p>
            <a:pPr marL="285750" indent="-285750">
              <a:buFont typeface="Arial" panose="020B0604020202020204" pitchFamily="34" charset="0"/>
              <a:buChar char="•"/>
            </a:pPr>
            <a:r>
              <a:rPr lang="pt-BR" sz="2000" dirty="0" smtClean="0">
                <a:solidFill>
                  <a:schemeClr val="bg1"/>
                </a:solidFill>
              </a:rPr>
              <a:t>Os </a:t>
            </a:r>
            <a:r>
              <a:rPr lang="pt-BR" sz="2000" dirty="0">
                <a:solidFill>
                  <a:schemeClr val="bg1"/>
                </a:solidFill>
              </a:rPr>
              <a:t>3 Pilares da Tecnologia </a:t>
            </a:r>
            <a:endParaRPr lang="pt-BR" sz="2000" dirty="0" smtClean="0">
              <a:solidFill>
                <a:schemeClr val="bg1"/>
              </a:solidFill>
            </a:endParaRPr>
          </a:p>
          <a:p>
            <a:pPr marL="285750" indent="-285750">
              <a:buFont typeface="Arial" panose="020B0604020202020204" pitchFamily="34" charset="0"/>
              <a:buChar char="•"/>
            </a:pPr>
            <a:r>
              <a:rPr lang="pt-BR" sz="2000" dirty="0" err="1" smtClean="0">
                <a:solidFill>
                  <a:schemeClr val="bg1"/>
                </a:solidFill>
              </a:rPr>
              <a:t>Cloud</a:t>
            </a:r>
            <a:r>
              <a:rPr lang="pt-BR" sz="2000" dirty="0" smtClean="0">
                <a:solidFill>
                  <a:schemeClr val="bg1"/>
                </a:solidFill>
              </a:rPr>
              <a:t> </a:t>
            </a:r>
            <a:r>
              <a:rPr lang="pt-BR" sz="2000" dirty="0" err="1">
                <a:solidFill>
                  <a:schemeClr val="bg1"/>
                </a:solidFill>
              </a:rPr>
              <a:t>Computing</a:t>
            </a:r>
            <a:r>
              <a:rPr lang="pt-BR" sz="2000" dirty="0">
                <a:solidFill>
                  <a:schemeClr val="bg1"/>
                </a:solidFill>
              </a:rPr>
              <a:t> </a:t>
            </a:r>
            <a:endParaRPr lang="pt-BR" sz="2000" dirty="0" smtClean="0">
              <a:solidFill>
                <a:schemeClr val="bg1"/>
              </a:solidFill>
            </a:endParaRPr>
          </a:p>
          <a:p>
            <a:pPr marL="285750" indent="-285750">
              <a:buFont typeface="Arial" panose="020B0604020202020204" pitchFamily="34" charset="0"/>
              <a:buChar char="•"/>
            </a:pPr>
            <a:r>
              <a:rPr lang="pt-BR" sz="2000" dirty="0" smtClean="0">
                <a:solidFill>
                  <a:schemeClr val="bg1"/>
                </a:solidFill>
              </a:rPr>
              <a:t>Big </a:t>
            </a:r>
            <a:r>
              <a:rPr lang="pt-BR" sz="2000" dirty="0">
                <a:solidFill>
                  <a:schemeClr val="bg1"/>
                </a:solidFill>
              </a:rPr>
              <a:t>Data &amp; </a:t>
            </a:r>
            <a:r>
              <a:rPr lang="pt-BR" sz="2000" dirty="0" err="1">
                <a:solidFill>
                  <a:schemeClr val="bg1"/>
                </a:solidFill>
              </a:rPr>
              <a:t>Analytics</a:t>
            </a:r>
            <a:r>
              <a:rPr lang="pt-BR" sz="2000" dirty="0">
                <a:solidFill>
                  <a:schemeClr val="bg1"/>
                </a:solidFill>
              </a:rPr>
              <a:t> </a:t>
            </a:r>
            <a:endParaRPr lang="pt-BR" sz="2000" dirty="0" smtClean="0">
              <a:solidFill>
                <a:schemeClr val="bg1"/>
              </a:solidFill>
            </a:endParaRPr>
          </a:p>
          <a:p>
            <a:pPr marL="285750" indent="-285750">
              <a:buFont typeface="Arial" panose="020B0604020202020204" pitchFamily="34" charset="0"/>
              <a:buChar char="•"/>
            </a:pPr>
            <a:r>
              <a:rPr lang="pt-BR" sz="2000" dirty="0" smtClean="0">
                <a:solidFill>
                  <a:schemeClr val="bg1"/>
                </a:solidFill>
              </a:rPr>
              <a:t>Inteligência </a:t>
            </a:r>
            <a:r>
              <a:rPr lang="pt-BR" sz="2000" dirty="0" smtClean="0">
                <a:solidFill>
                  <a:schemeClr val="bg1"/>
                </a:solidFill>
              </a:rPr>
              <a:t>Artificial (</a:t>
            </a:r>
            <a:r>
              <a:rPr lang="pt-BR" sz="2000" dirty="0">
                <a:solidFill>
                  <a:schemeClr val="bg1"/>
                </a:solidFill>
              </a:rPr>
              <a:t>2) </a:t>
            </a:r>
            <a:endParaRPr lang="pt-BR" sz="2000" dirty="0" smtClean="0">
              <a:solidFill>
                <a:schemeClr val="bg1"/>
              </a:solidFill>
            </a:endParaRPr>
          </a:p>
          <a:p>
            <a:pPr marL="285750" indent="-285750">
              <a:buFont typeface="Arial" panose="020B0604020202020204" pitchFamily="34" charset="0"/>
              <a:buChar char="•"/>
            </a:pPr>
            <a:r>
              <a:rPr lang="pt-BR" sz="2000" dirty="0" err="1" smtClean="0">
                <a:solidFill>
                  <a:schemeClr val="bg1"/>
                </a:solidFill>
              </a:rPr>
              <a:t>IoT</a:t>
            </a:r>
            <a:r>
              <a:rPr lang="pt-BR" sz="2000" dirty="0" smtClean="0">
                <a:solidFill>
                  <a:schemeClr val="bg1"/>
                </a:solidFill>
              </a:rPr>
              <a:t> </a:t>
            </a:r>
          </a:p>
          <a:p>
            <a:pPr marL="285750" indent="-285750">
              <a:buFont typeface="Arial" panose="020B0604020202020204" pitchFamily="34" charset="0"/>
              <a:buChar char="•"/>
            </a:pPr>
            <a:r>
              <a:rPr lang="pt-BR" sz="2000" dirty="0" smtClean="0">
                <a:solidFill>
                  <a:schemeClr val="bg1"/>
                </a:solidFill>
              </a:rPr>
              <a:t>Decomposição </a:t>
            </a:r>
          </a:p>
          <a:p>
            <a:pPr marL="285750" indent="-285750">
              <a:buFont typeface="Arial" panose="020B0604020202020204" pitchFamily="34" charset="0"/>
              <a:buChar char="•"/>
            </a:pPr>
            <a:r>
              <a:rPr lang="pt-BR" sz="2000" dirty="0" smtClean="0">
                <a:solidFill>
                  <a:schemeClr val="bg1"/>
                </a:solidFill>
              </a:rPr>
              <a:t>Abstração </a:t>
            </a:r>
          </a:p>
          <a:p>
            <a:pPr marL="285750" indent="-285750">
              <a:buFont typeface="Arial" panose="020B0604020202020204" pitchFamily="34" charset="0"/>
              <a:buChar char="•"/>
            </a:pPr>
            <a:r>
              <a:rPr lang="pt-BR" sz="2000" dirty="0" smtClean="0">
                <a:solidFill>
                  <a:schemeClr val="bg1"/>
                </a:solidFill>
              </a:rPr>
              <a:t>Algoritmos </a:t>
            </a:r>
          </a:p>
          <a:p>
            <a:pPr marL="285750" indent="-285750">
              <a:buFont typeface="Arial" panose="020B0604020202020204" pitchFamily="34" charset="0"/>
              <a:buChar char="•"/>
            </a:pPr>
            <a:r>
              <a:rPr lang="pt-BR" sz="2000" smtClean="0">
                <a:solidFill>
                  <a:schemeClr val="bg1"/>
                </a:solidFill>
              </a:rPr>
              <a:t>Finalização</a:t>
            </a:r>
            <a:endParaRPr lang="pt-BR" sz="2000" dirty="0">
              <a:solidFill>
                <a:schemeClr val="bg1"/>
              </a:solidFill>
            </a:endParaRPr>
          </a:p>
        </p:txBody>
      </p:sp>
      <p:sp>
        <p:nvSpPr>
          <p:cNvPr id="10" name="Espaço Reservado para Rodapé 9">
            <a:extLst>
              <a:ext uri="{FF2B5EF4-FFF2-40B4-BE49-F238E27FC236}">
                <a16:creationId xmlns:a16="http://schemas.microsoft.com/office/drawing/2014/main" id="{398D35C6-E9D2-9851-42AE-08BD328ACAC9}"/>
              </a:ext>
            </a:extLst>
          </p:cNvPr>
          <p:cNvSpPr>
            <a:spLocks noGrp="1"/>
          </p:cNvSpPr>
          <p:nvPr>
            <p:ph type="ftr" sz="quarter" idx="11"/>
          </p:nvPr>
        </p:nvSpPr>
        <p:spPr/>
        <p:txBody>
          <a:bodyPr/>
          <a:lstStyle/>
          <a:p>
            <a:r>
              <a:rPr lang="pt-BR"/>
              <a:t>EtecVav</a:t>
            </a:r>
          </a:p>
        </p:txBody>
      </p:sp>
      <p:sp>
        <p:nvSpPr>
          <p:cNvPr id="11" name="Espaço Reservado para Número de Slide 10">
            <a:extLst>
              <a:ext uri="{FF2B5EF4-FFF2-40B4-BE49-F238E27FC236}">
                <a16:creationId xmlns:a16="http://schemas.microsoft.com/office/drawing/2014/main" id="{0BA183CB-3B59-46E8-312F-8B2AC874FF76}"/>
              </a:ext>
            </a:extLst>
          </p:cNvPr>
          <p:cNvSpPr>
            <a:spLocks noGrp="1"/>
          </p:cNvSpPr>
          <p:nvPr>
            <p:ph type="sldNum" sz="quarter" idx="12"/>
          </p:nvPr>
        </p:nvSpPr>
        <p:spPr/>
        <p:txBody>
          <a:bodyPr/>
          <a:lstStyle/>
          <a:p>
            <a:fld id="{4984923B-3F40-49CB-9B79-A738AB3B4A3B}" type="slidenum">
              <a:rPr lang="pt-BR" smtClean="0"/>
              <a:t>3</a:t>
            </a:fld>
            <a:endParaRPr lang="pt-BR"/>
          </a:p>
        </p:txBody>
      </p:sp>
    </p:spTree>
    <p:extLst>
      <p:ext uri="{BB962C8B-B14F-4D97-AF65-F5344CB8AC3E}">
        <p14:creationId xmlns:p14="http://schemas.microsoft.com/office/powerpoint/2010/main" val="36715540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0E04F3A8-1055-6593-4F18-312DD14E9D61}"/>
              </a:ext>
            </a:extLst>
          </p:cNvPr>
          <p:cNvSpPr>
            <a:spLocks noGrp="1"/>
          </p:cNvSpPr>
          <p:nvPr>
            <p:ph type="title"/>
          </p:nvPr>
        </p:nvSpPr>
        <p:spPr/>
        <p:txBody>
          <a:bodyPr/>
          <a:lstStyle/>
          <a:p>
            <a:r>
              <a:rPr lang="pt-BR" dirty="0"/>
              <a:t>			 </a:t>
            </a:r>
            <a:r>
              <a:rPr lang="pt-BR" dirty="0" smtClean="0"/>
              <a:t>    </a:t>
            </a:r>
            <a:r>
              <a:rPr lang="pt-BR" b="1" dirty="0"/>
              <a:t>Resumo</a:t>
            </a:r>
          </a:p>
        </p:txBody>
      </p:sp>
      <p:sp>
        <p:nvSpPr>
          <p:cNvPr id="4" name="Espaço Reservado para Texto 3">
            <a:extLst>
              <a:ext uri="{FF2B5EF4-FFF2-40B4-BE49-F238E27FC236}">
                <a16:creationId xmlns:a16="http://schemas.microsoft.com/office/drawing/2014/main" id="{1E9047EA-2FCC-502D-6DCC-DF55FDF4D2A7}"/>
              </a:ext>
            </a:extLst>
          </p:cNvPr>
          <p:cNvSpPr>
            <a:spLocks noGrp="1"/>
          </p:cNvSpPr>
          <p:nvPr>
            <p:ph type="body" idx="1"/>
          </p:nvPr>
        </p:nvSpPr>
        <p:spPr/>
        <p:txBody>
          <a:bodyPr/>
          <a:lstStyle/>
          <a:p>
            <a:endParaRPr lang="pt-BR"/>
          </a:p>
        </p:txBody>
      </p:sp>
      <p:sp>
        <p:nvSpPr>
          <p:cNvPr id="5" name="Espaço Reservado para Rodapé 4">
            <a:extLst>
              <a:ext uri="{FF2B5EF4-FFF2-40B4-BE49-F238E27FC236}">
                <a16:creationId xmlns:a16="http://schemas.microsoft.com/office/drawing/2014/main" id="{DD689DF4-C19B-A6D1-8CA8-324D14F87EC9}"/>
              </a:ext>
            </a:extLst>
          </p:cNvPr>
          <p:cNvSpPr>
            <a:spLocks noGrp="1"/>
          </p:cNvSpPr>
          <p:nvPr>
            <p:ph type="ftr" sz="quarter" idx="11"/>
          </p:nvPr>
        </p:nvSpPr>
        <p:spPr/>
        <p:txBody>
          <a:bodyPr/>
          <a:lstStyle/>
          <a:p>
            <a:r>
              <a:rPr lang="pt-BR"/>
              <a:t>EtecVav</a:t>
            </a:r>
          </a:p>
        </p:txBody>
      </p:sp>
      <p:sp>
        <p:nvSpPr>
          <p:cNvPr id="6" name="Espaço Reservado para Número de Slide 5">
            <a:extLst>
              <a:ext uri="{FF2B5EF4-FFF2-40B4-BE49-F238E27FC236}">
                <a16:creationId xmlns:a16="http://schemas.microsoft.com/office/drawing/2014/main" id="{75BA7DC4-9760-1446-9215-27E690C8B61F}"/>
              </a:ext>
            </a:extLst>
          </p:cNvPr>
          <p:cNvSpPr>
            <a:spLocks noGrp="1"/>
          </p:cNvSpPr>
          <p:nvPr>
            <p:ph type="sldNum" sz="quarter" idx="12"/>
          </p:nvPr>
        </p:nvSpPr>
        <p:spPr/>
        <p:txBody>
          <a:bodyPr/>
          <a:lstStyle/>
          <a:p>
            <a:fld id="{4984923B-3F40-49CB-9B79-A738AB3B4A3B}" type="slidenum">
              <a:rPr lang="pt-BR" smtClean="0"/>
              <a:t>4</a:t>
            </a:fld>
            <a:endParaRPr lang="pt-BR"/>
          </a:p>
        </p:txBody>
      </p:sp>
      <p:sp>
        <p:nvSpPr>
          <p:cNvPr id="7" name="Meio-quadro 6"/>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8505732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972F229-F582-B39F-66E3-DB066A5A20E7}"/>
              </a:ext>
            </a:extLst>
          </p:cNvPr>
          <p:cNvSpPr>
            <a:spLocks noGrp="1"/>
          </p:cNvSpPr>
          <p:nvPr>
            <p:ph type="title"/>
          </p:nvPr>
        </p:nvSpPr>
        <p:spPr/>
        <p:txBody>
          <a:bodyPr/>
          <a:lstStyle/>
          <a:p>
            <a:r>
              <a:rPr lang="pt-BR" dirty="0"/>
              <a:t>Resumo</a:t>
            </a:r>
          </a:p>
        </p:txBody>
      </p:sp>
      <p:sp>
        <p:nvSpPr>
          <p:cNvPr id="5" name="Espaço Reservado para Conteúdo 4">
            <a:extLst>
              <a:ext uri="{FF2B5EF4-FFF2-40B4-BE49-F238E27FC236}">
                <a16:creationId xmlns:a16="http://schemas.microsoft.com/office/drawing/2014/main" id="{C3DEB60C-0565-B530-A6C9-4B93A73089F4}"/>
              </a:ext>
            </a:extLst>
          </p:cNvPr>
          <p:cNvSpPr>
            <a:spLocks noGrp="1"/>
          </p:cNvSpPr>
          <p:nvPr>
            <p:ph idx="1"/>
          </p:nvPr>
        </p:nvSpPr>
        <p:spPr>
          <a:xfrm>
            <a:off x="838200" y="1825625"/>
            <a:ext cx="10515600" cy="1603375"/>
          </a:xfrm>
        </p:spPr>
        <p:txBody>
          <a:bodyPr/>
          <a:lstStyle/>
          <a:p>
            <a:pPr marL="0" indent="0">
              <a:buNone/>
            </a:pPr>
            <a:r>
              <a:rPr lang="pt-BR" dirty="0"/>
              <a:t>	</a:t>
            </a:r>
            <a:r>
              <a:rPr lang="pt-BR" sz="2000" dirty="0"/>
              <a:t>A tecnologia faz parte de nossas vidas diariamente, e assim como a vida tem os seus “algoritmos”, a tecnologia possui os seus códigos e passo-a-passo!</a:t>
            </a:r>
          </a:p>
        </p:txBody>
      </p:sp>
      <p:sp>
        <p:nvSpPr>
          <p:cNvPr id="6" name="Espaço Reservado para Rodapé 5">
            <a:extLst>
              <a:ext uri="{FF2B5EF4-FFF2-40B4-BE49-F238E27FC236}">
                <a16:creationId xmlns:a16="http://schemas.microsoft.com/office/drawing/2014/main" id="{E8D55CDF-DB20-F3DD-0ED0-3AA05BCED0AD}"/>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D84C462B-E5E6-B885-A421-F139C376536B}"/>
              </a:ext>
            </a:extLst>
          </p:cNvPr>
          <p:cNvSpPr>
            <a:spLocks noGrp="1"/>
          </p:cNvSpPr>
          <p:nvPr>
            <p:ph type="sldNum" sz="quarter" idx="12"/>
          </p:nvPr>
        </p:nvSpPr>
        <p:spPr/>
        <p:txBody>
          <a:bodyPr/>
          <a:lstStyle/>
          <a:p>
            <a:fld id="{4984923B-3F40-49CB-9B79-A738AB3B4A3B}" type="slidenum">
              <a:rPr lang="pt-BR" smtClean="0"/>
              <a:t>5</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5550" y="3139065"/>
            <a:ext cx="4137003" cy="2858793"/>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6229737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3C31166-5E1E-6C6D-B2A6-ECA99E4CF97C}"/>
              </a:ext>
            </a:extLst>
          </p:cNvPr>
          <p:cNvSpPr>
            <a:spLocks noGrp="1"/>
          </p:cNvSpPr>
          <p:nvPr>
            <p:ph type="title"/>
          </p:nvPr>
        </p:nvSpPr>
        <p:spPr/>
        <p:txBody>
          <a:bodyPr/>
          <a:lstStyle/>
          <a:p>
            <a:r>
              <a:rPr lang="pt-BR" dirty="0"/>
              <a:t>			  </a:t>
            </a:r>
            <a:r>
              <a:rPr lang="pt-BR" dirty="0" smtClean="0"/>
              <a:t>   </a:t>
            </a:r>
            <a:r>
              <a:rPr lang="pt-BR" b="1" dirty="0"/>
              <a:t>Abstract</a:t>
            </a:r>
          </a:p>
        </p:txBody>
      </p:sp>
      <p:sp>
        <p:nvSpPr>
          <p:cNvPr id="5" name="Espaço Reservado para Texto 4">
            <a:extLst>
              <a:ext uri="{FF2B5EF4-FFF2-40B4-BE49-F238E27FC236}">
                <a16:creationId xmlns:a16="http://schemas.microsoft.com/office/drawing/2014/main" id="{317EB500-D785-ED26-4D93-CD6EE471A329}"/>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3F53DE40-56BF-8565-136E-CB6E40590889}"/>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036D0BED-7296-679E-8053-21512BF37EE8}"/>
              </a:ext>
            </a:extLst>
          </p:cNvPr>
          <p:cNvSpPr>
            <a:spLocks noGrp="1"/>
          </p:cNvSpPr>
          <p:nvPr>
            <p:ph type="sldNum" sz="quarter" idx="12"/>
          </p:nvPr>
        </p:nvSpPr>
        <p:spPr/>
        <p:txBody>
          <a:bodyPr/>
          <a:lstStyle/>
          <a:p>
            <a:fld id="{4984923B-3F40-49CB-9B79-A738AB3B4A3B}" type="slidenum">
              <a:rPr lang="pt-BR" smtClean="0"/>
              <a:t>6</a:t>
            </a:fld>
            <a:endParaRPr lang="pt-BR"/>
          </a:p>
        </p:txBody>
      </p:sp>
      <p:sp>
        <p:nvSpPr>
          <p:cNvPr id="2" name="Meio-quadro 1"/>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35678346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AE3CDC6-C500-CBEB-5E09-9E1AA9734BED}"/>
              </a:ext>
            </a:extLst>
          </p:cNvPr>
          <p:cNvSpPr>
            <a:spLocks noGrp="1"/>
          </p:cNvSpPr>
          <p:nvPr>
            <p:ph type="title"/>
          </p:nvPr>
        </p:nvSpPr>
        <p:spPr/>
        <p:txBody>
          <a:bodyPr/>
          <a:lstStyle/>
          <a:p>
            <a:r>
              <a:rPr lang="pt-BR" dirty="0"/>
              <a:t>Abstract</a:t>
            </a:r>
          </a:p>
        </p:txBody>
      </p:sp>
      <p:sp>
        <p:nvSpPr>
          <p:cNvPr id="5" name="Espaço Reservado para Conteúdo 4">
            <a:extLst>
              <a:ext uri="{FF2B5EF4-FFF2-40B4-BE49-F238E27FC236}">
                <a16:creationId xmlns:a16="http://schemas.microsoft.com/office/drawing/2014/main" id="{204A5FC5-821B-7C5D-E2BF-053748F537D0}"/>
              </a:ext>
            </a:extLst>
          </p:cNvPr>
          <p:cNvSpPr>
            <a:spLocks noGrp="1"/>
          </p:cNvSpPr>
          <p:nvPr>
            <p:ph idx="1"/>
          </p:nvPr>
        </p:nvSpPr>
        <p:spPr>
          <a:xfrm>
            <a:off x="838200" y="1825625"/>
            <a:ext cx="10515600" cy="1206942"/>
          </a:xfrm>
        </p:spPr>
        <p:txBody>
          <a:bodyPr>
            <a:normAutofit/>
          </a:bodyPr>
          <a:lstStyle/>
          <a:p>
            <a:pPr marL="0" indent="0">
              <a:buNone/>
            </a:pPr>
            <a:r>
              <a:rPr lang="en-US" dirty="0"/>
              <a:t>	</a:t>
            </a:r>
            <a:r>
              <a:rPr lang="en-US" sz="2000" dirty="0"/>
              <a:t>Technology is part of our daily lives, and just like life has its own “algorithms,” technology has its codes and step-by-step processes!</a:t>
            </a:r>
          </a:p>
          <a:p>
            <a:endParaRPr lang="pt-BR" dirty="0"/>
          </a:p>
        </p:txBody>
      </p:sp>
      <p:sp>
        <p:nvSpPr>
          <p:cNvPr id="6" name="Espaço Reservado para Rodapé 5">
            <a:extLst>
              <a:ext uri="{FF2B5EF4-FFF2-40B4-BE49-F238E27FC236}">
                <a16:creationId xmlns:a16="http://schemas.microsoft.com/office/drawing/2014/main" id="{A1AE7C56-CF96-10AC-EE2B-F1A6DC97125E}"/>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8D2BBE70-3EE4-FE4E-D41C-9BCA9A2C438C}"/>
              </a:ext>
            </a:extLst>
          </p:cNvPr>
          <p:cNvSpPr>
            <a:spLocks noGrp="1"/>
          </p:cNvSpPr>
          <p:nvPr>
            <p:ph type="sldNum" sz="quarter" idx="12"/>
          </p:nvPr>
        </p:nvSpPr>
        <p:spPr/>
        <p:txBody>
          <a:bodyPr/>
          <a:lstStyle/>
          <a:p>
            <a:fld id="{4984923B-3F40-49CB-9B79-A738AB3B4A3B}" type="slidenum">
              <a:rPr lang="pt-BR" smtClean="0"/>
              <a:t>7</a:t>
            </a:fld>
            <a:endParaRPr lang="pt-BR"/>
          </a:p>
        </p:txBody>
      </p:sp>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1122" y="3483429"/>
            <a:ext cx="4649755" cy="2422059"/>
          </a:xfrm>
          <a:prstGeom prst="rect">
            <a:avLst/>
          </a:prstGeom>
        </p:spPr>
      </p:pic>
    </p:spTree>
    <p:extLst>
      <p:ext uri="{BB962C8B-B14F-4D97-AF65-F5344CB8AC3E}">
        <p14:creationId xmlns:p14="http://schemas.microsoft.com/office/powerpoint/2010/main" val="32738237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40B9D12-1DA2-5709-06C5-5981BBA6FAF7}"/>
              </a:ext>
            </a:extLst>
          </p:cNvPr>
          <p:cNvSpPr>
            <a:spLocks noGrp="1"/>
          </p:cNvSpPr>
          <p:nvPr>
            <p:ph type="title"/>
          </p:nvPr>
        </p:nvSpPr>
        <p:spPr>
          <a:xfrm>
            <a:off x="838200" y="972275"/>
            <a:ext cx="10515600" cy="2953594"/>
          </a:xfrm>
        </p:spPr>
        <p:txBody>
          <a:bodyPr/>
          <a:lstStyle/>
          <a:p>
            <a:pPr algn="ctr"/>
            <a:r>
              <a:rPr lang="pt-BR" b="1" dirty="0" smtClean="0"/>
              <a:t> Introdução</a:t>
            </a:r>
            <a:endParaRPr lang="pt-BR" b="1" dirty="0"/>
          </a:p>
        </p:txBody>
      </p:sp>
      <p:sp>
        <p:nvSpPr>
          <p:cNvPr id="6" name="Espaço Reservado para Rodapé 5">
            <a:extLst>
              <a:ext uri="{FF2B5EF4-FFF2-40B4-BE49-F238E27FC236}">
                <a16:creationId xmlns:a16="http://schemas.microsoft.com/office/drawing/2014/main" id="{8DBDBDC3-A724-672C-929D-03648BE9495A}"/>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EB0C59E3-EDB3-9D2B-DE1A-ED00C136004C}"/>
              </a:ext>
            </a:extLst>
          </p:cNvPr>
          <p:cNvSpPr>
            <a:spLocks noGrp="1"/>
          </p:cNvSpPr>
          <p:nvPr>
            <p:ph type="sldNum" sz="quarter" idx="12"/>
          </p:nvPr>
        </p:nvSpPr>
        <p:spPr/>
        <p:txBody>
          <a:bodyPr/>
          <a:lstStyle/>
          <a:p>
            <a:fld id="{4984923B-3F40-49CB-9B79-A738AB3B4A3B}" type="slidenum">
              <a:rPr lang="pt-BR" smtClean="0"/>
              <a:t>8</a:t>
            </a:fld>
            <a:endParaRPr lang="pt-BR"/>
          </a:p>
        </p:txBody>
      </p:sp>
      <p:sp>
        <p:nvSpPr>
          <p:cNvPr id="5" name="Meio-quadro 4"/>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20002797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3623498-CBE7-E17D-CF15-E0E5B1E19233}"/>
              </a:ext>
            </a:extLst>
          </p:cNvPr>
          <p:cNvSpPr>
            <a:spLocks noGrp="1"/>
          </p:cNvSpPr>
          <p:nvPr>
            <p:ph type="title"/>
          </p:nvPr>
        </p:nvSpPr>
        <p:spPr/>
        <p:txBody>
          <a:bodyPr/>
          <a:lstStyle/>
          <a:p>
            <a:r>
              <a:rPr lang="pt-BR" dirty="0"/>
              <a:t>Introdução</a:t>
            </a:r>
          </a:p>
        </p:txBody>
      </p:sp>
      <p:sp>
        <p:nvSpPr>
          <p:cNvPr id="5" name="Espaço Reservado para Conteúdo 4">
            <a:extLst>
              <a:ext uri="{FF2B5EF4-FFF2-40B4-BE49-F238E27FC236}">
                <a16:creationId xmlns:a16="http://schemas.microsoft.com/office/drawing/2014/main" id="{91200FBB-4E48-0883-F3CD-28AEA3740D93}"/>
              </a:ext>
            </a:extLst>
          </p:cNvPr>
          <p:cNvSpPr>
            <a:spLocks noGrp="1"/>
          </p:cNvSpPr>
          <p:nvPr>
            <p:ph idx="1"/>
          </p:nvPr>
        </p:nvSpPr>
        <p:spPr/>
        <p:txBody>
          <a:bodyPr>
            <a:normAutofit/>
          </a:bodyPr>
          <a:lstStyle/>
          <a:p>
            <a:pPr marL="0" indent="0">
              <a:buNone/>
            </a:pPr>
            <a:r>
              <a:rPr lang="pt-BR" sz="1600" b="0" i="0" dirty="0">
                <a:solidFill>
                  <a:srgbClr val="000000"/>
                </a:solidFill>
                <a:effectLst/>
                <a:latin typeface="Times New Roman" panose="02020603050405020304" pitchFamily="18" charset="0"/>
              </a:rPr>
              <a:t>	</a:t>
            </a:r>
            <a:r>
              <a:rPr lang="pt-BR" sz="2000" b="0" i="0" dirty="0">
                <a:solidFill>
                  <a:srgbClr val="000000"/>
                </a:solidFill>
                <a:effectLst/>
                <a:latin typeface="Times New Roman" panose="02020603050405020304" pitchFamily="18" charset="0"/>
              </a:rPr>
              <a:t>A tecnologia está cada vez mais presente em nosso cotidiano, influenciando desde as tarefas mais simples até decisões mais complexas. Muitas vezes, sem perceber, seguimos sequências organizadas de ações, conhecidas como algoritmos, que nos ajudam a realizar atividades de forma eficiente. Além disso, com o avanço da inteligência artificial, ferramentas digitais passaram a aprender com nossos hábitos e oferecer soluções cada vez mais personalizadas.</a:t>
            </a:r>
            <a:endParaRPr lang="pt-BR" sz="2000" dirty="0"/>
          </a:p>
        </p:txBody>
      </p:sp>
      <p:sp>
        <p:nvSpPr>
          <p:cNvPr id="6" name="Espaço Reservado para Rodapé 5">
            <a:extLst>
              <a:ext uri="{FF2B5EF4-FFF2-40B4-BE49-F238E27FC236}">
                <a16:creationId xmlns:a16="http://schemas.microsoft.com/office/drawing/2014/main" id="{54225C95-5876-F375-FDC7-D0F92F630348}"/>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64F59786-3B6C-778F-A927-C85EB88424D3}"/>
              </a:ext>
            </a:extLst>
          </p:cNvPr>
          <p:cNvSpPr>
            <a:spLocks noGrp="1"/>
          </p:cNvSpPr>
          <p:nvPr>
            <p:ph type="sldNum" sz="quarter" idx="12"/>
          </p:nvPr>
        </p:nvSpPr>
        <p:spPr/>
        <p:txBody>
          <a:bodyPr/>
          <a:lstStyle/>
          <a:p>
            <a:fld id="{4984923B-3F40-49CB-9B79-A738AB3B4A3B}" type="slidenum">
              <a:rPr lang="pt-BR" smtClean="0"/>
              <a:t>9</a:t>
            </a:fld>
            <a:endParaRPr lang="pt-BR"/>
          </a:p>
        </p:txBody>
      </p:sp>
      <p:pic>
        <p:nvPicPr>
          <p:cNvPr id="2" name="Imagem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293252" y="3592080"/>
            <a:ext cx="3295094" cy="2112240"/>
          </a:xfrm>
          <a:prstGeom prst="rect">
            <a:avLst/>
          </a:prstGeom>
        </p:spPr>
      </p:pic>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199" y="3592080"/>
            <a:ext cx="3755093" cy="2112240"/>
          </a:xfrm>
          <a:prstGeom prst="rect">
            <a:avLst/>
          </a:prstGeom>
        </p:spPr>
      </p:pic>
      <p:cxnSp>
        <p:nvCxnSpPr>
          <p:cNvPr id="9" name="Conector reto 8"/>
          <p:cNvCxnSpPr/>
          <p:nvPr/>
        </p:nvCxnSpPr>
        <p:spPr>
          <a:xfrm>
            <a:off x="1219199" y="3592080"/>
            <a:ext cx="375509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ector reto 10"/>
          <p:cNvCxnSpPr/>
          <p:nvPr/>
        </p:nvCxnSpPr>
        <p:spPr>
          <a:xfrm>
            <a:off x="4974292" y="3592080"/>
            <a:ext cx="0" cy="2162176"/>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ector reto 12"/>
          <p:cNvCxnSpPr/>
          <p:nvPr/>
        </p:nvCxnSpPr>
        <p:spPr>
          <a:xfrm flipH="1">
            <a:off x="1219198" y="3592080"/>
            <a:ext cx="1" cy="2162176"/>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to 15"/>
          <p:cNvCxnSpPr/>
          <p:nvPr/>
        </p:nvCxnSpPr>
        <p:spPr>
          <a:xfrm>
            <a:off x="1219198" y="5704320"/>
            <a:ext cx="3755094"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Retângulo Arredondado 11"/>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525362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E7E74197-52E5-DD34-628C-FECDD600897A}"/>
              </a:ext>
            </a:extLst>
          </p:cNvPr>
          <p:cNvSpPr>
            <a:spLocks noGrp="1"/>
          </p:cNvSpPr>
          <p:nvPr>
            <p:ph type="title"/>
          </p:nvPr>
        </p:nvSpPr>
        <p:spPr>
          <a:xfrm>
            <a:off x="83890" y="1087042"/>
            <a:ext cx="11971090" cy="2852737"/>
          </a:xfrm>
        </p:spPr>
        <p:txBody>
          <a:bodyPr/>
          <a:lstStyle/>
          <a:p>
            <a:r>
              <a:rPr lang="pt-BR" dirty="0"/>
              <a:t> </a:t>
            </a:r>
            <a:r>
              <a:rPr lang="pt-BR" b="1" dirty="0" smtClean="0"/>
              <a:t>A </a:t>
            </a:r>
            <a:r>
              <a:rPr lang="pt-BR" b="1" dirty="0"/>
              <a:t>Tecnologia no Nosso Dia a Dia</a:t>
            </a:r>
          </a:p>
        </p:txBody>
      </p:sp>
      <p:sp>
        <p:nvSpPr>
          <p:cNvPr id="8" name="Espaço Reservado para Rodapé 7">
            <a:extLst>
              <a:ext uri="{FF2B5EF4-FFF2-40B4-BE49-F238E27FC236}">
                <a16:creationId xmlns:a16="http://schemas.microsoft.com/office/drawing/2014/main" id="{E2DAA494-5AEB-B267-B1ED-38505E204ADA}"/>
              </a:ext>
            </a:extLst>
          </p:cNvPr>
          <p:cNvSpPr>
            <a:spLocks noGrp="1"/>
          </p:cNvSpPr>
          <p:nvPr>
            <p:ph type="ftr" sz="quarter" idx="11"/>
          </p:nvPr>
        </p:nvSpPr>
        <p:spPr/>
        <p:txBody>
          <a:bodyPr/>
          <a:lstStyle/>
          <a:p>
            <a:r>
              <a:rPr lang="pt-BR"/>
              <a:t>EtecVav</a:t>
            </a:r>
          </a:p>
        </p:txBody>
      </p:sp>
      <p:sp>
        <p:nvSpPr>
          <p:cNvPr id="9" name="Espaço Reservado para Número de Slide 8">
            <a:extLst>
              <a:ext uri="{FF2B5EF4-FFF2-40B4-BE49-F238E27FC236}">
                <a16:creationId xmlns:a16="http://schemas.microsoft.com/office/drawing/2014/main" id="{690291EC-54E8-0447-A555-02A336341EBF}"/>
              </a:ext>
            </a:extLst>
          </p:cNvPr>
          <p:cNvSpPr>
            <a:spLocks noGrp="1"/>
          </p:cNvSpPr>
          <p:nvPr>
            <p:ph type="sldNum" sz="quarter" idx="12"/>
          </p:nvPr>
        </p:nvSpPr>
        <p:spPr/>
        <p:txBody>
          <a:bodyPr/>
          <a:lstStyle/>
          <a:p>
            <a:fld id="{4984923B-3F40-49CB-9B79-A738AB3B4A3B}" type="slidenum">
              <a:rPr lang="pt-BR" smtClean="0"/>
              <a:t>10</a:t>
            </a:fld>
            <a:endParaRPr lang="pt-BR"/>
          </a:p>
        </p:txBody>
      </p:sp>
      <p:sp>
        <p:nvSpPr>
          <p:cNvPr id="5" name="Meio-quadro 4"/>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rgbClr val="FF0000"/>
              </a:solidFill>
            </a:endParaRPr>
          </a:p>
        </p:txBody>
      </p:sp>
    </p:spTree>
    <p:extLst>
      <p:ext uri="{BB962C8B-B14F-4D97-AF65-F5344CB8AC3E}">
        <p14:creationId xmlns:p14="http://schemas.microsoft.com/office/powerpoint/2010/main" val="9598134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962460B-F851-2BAC-C382-949FD1748892}"/>
              </a:ext>
            </a:extLst>
          </p:cNvPr>
          <p:cNvSpPr>
            <a:spLocks noGrp="1"/>
          </p:cNvSpPr>
          <p:nvPr>
            <p:ph type="title"/>
          </p:nvPr>
        </p:nvSpPr>
        <p:spPr/>
        <p:txBody>
          <a:bodyPr/>
          <a:lstStyle/>
          <a:p>
            <a:r>
              <a:rPr lang="pt-BR" dirty="0"/>
              <a:t>A Tecnologia no Nosso Dia a Dia</a:t>
            </a:r>
          </a:p>
        </p:txBody>
      </p:sp>
      <p:sp>
        <p:nvSpPr>
          <p:cNvPr id="5" name="Espaço Reservado para Conteúdo 4">
            <a:extLst>
              <a:ext uri="{FF2B5EF4-FFF2-40B4-BE49-F238E27FC236}">
                <a16:creationId xmlns:a16="http://schemas.microsoft.com/office/drawing/2014/main" id="{1B0E23E9-DA30-2688-29FC-08D295F15F1C}"/>
              </a:ext>
            </a:extLst>
          </p:cNvPr>
          <p:cNvSpPr>
            <a:spLocks noGrp="1"/>
          </p:cNvSpPr>
          <p:nvPr>
            <p:ph idx="1"/>
          </p:nvPr>
        </p:nvSpPr>
        <p:spPr/>
        <p:txBody>
          <a:bodyPr>
            <a:normAutofit/>
          </a:bodyPr>
          <a:lstStyle/>
          <a:p>
            <a:pPr marL="0" indent="0">
              <a:buNone/>
            </a:pPr>
            <a:r>
              <a:rPr lang="pt-BR" sz="2000" b="0" i="0" dirty="0">
                <a:solidFill>
                  <a:srgbClr val="000000"/>
                </a:solidFill>
                <a:effectLst/>
                <a:latin typeface="Times New Roman" panose="02020603050405020304" pitchFamily="18" charset="0"/>
              </a:rPr>
              <a:t>	No nosso dia a dia, mesmo sem perceber, seguimos vários algoritmos. O algoritmo é uma sequência de passos organizada para fazer uma tarefa ou resolver um problema. Parece algo muito ligado à programação. Por exemplo, quando acordamos para ir à escola, comumente seguimos quase sempre a mesma ordem: desligar o despertador, levantar, escovar os dentes, tomar café, se arrumar e sair de casa. Essa sequência de ações a qual se repetem praticamente todos os dias, como um ciclo.</a:t>
            </a:r>
            <a:endParaRPr lang="pt-BR" sz="2000" dirty="0"/>
          </a:p>
        </p:txBody>
      </p:sp>
      <p:sp>
        <p:nvSpPr>
          <p:cNvPr id="6" name="Espaço Reservado para Rodapé 5">
            <a:extLst>
              <a:ext uri="{FF2B5EF4-FFF2-40B4-BE49-F238E27FC236}">
                <a16:creationId xmlns:a16="http://schemas.microsoft.com/office/drawing/2014/main" id="{72C05230-A811-9942-2795-34979F3E57CA}"/>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077C4D5F-4081-10A0-8191-41A9803509B4}"/>
              </a:ext>
            </a:extLst>
          </p:cNvPr>
          <p:cNvSpPr>
            <a:spLocks noGrp="1"/>
          </p:cNvSpPr>
          <p:nvPr>
            <p:ph type="sldNum" sz="quarter" idx="12"/>
          </p:nvPr>
        </p:nvSpPr>
        <p:spPr/>
        <p:txBody>
          <a:bodyPr/>
          <a:lstStyle/>
          <a:p>
            <a:fld id="{4984923B-3F40-49CB-9B79-A738AB3B4A3B}" type="slidenum">
              <a:rPr lang="pt-BR" smtClean="0"/>
              <a:t>11</a:t>
            </a:fld>
            <a:endParaRPr lang="pt-BR"/>
          </a:p>
        </p:txBody>
      </p:sp>
      <p:pic>
        <p:nvPicPr>
          <p:cNvPr id="9" name="Imagem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6265" y="3933345"/>
            <a:ext cx="3519470" cy="1748667"/>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8440008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B7523AD-566C-1A4D-982D-0F51C145AE65}"/>
              </a:ext>
            </a:extLst>
          </p:cNvPr>
          <p:cNvSpPr>
            <a:spLocks noGrp="1"/>
          </p:cNvSpPr>
          <p:nvPr>
            <p:ph type="title"/>
          </p:nvPr>
        </p:nvSpPr>
        <p:spPr>
          <a:xfrm>
            <a:off x="277791" y="842168"/>
            <a:ext cx="11655707" cy="2852737"/>
          </a:xfrm>
        </p:spPr>
        <p:txBody>
          <a:bodyPr/>
          <a:lstStyle/>
          <a:p>
            <a:r>
              <a:rPr lang="pt-BR" dirty="0"/>
              <a:t> </a:t>
            </a:r>
            <a:r>
              <a:rPr lang="pt-BR" dirty="0" smtClean="0"/>
              <a:t> </a:t>
            </a:r>
            <a:r>
              <a:rPr lang="pt-BR" b="1" dirty="0"/>
              <a:t> </a:t>
            </a:r>
            <a:r>
              <a:rPr lang="pt-BR" b="1" dirty="0" smtClean="0"/>
              <a:t>       Inteligência Artificial </a:t>
            </a:r>
            <a:endParaRPr lang="pt-BR" b="1" dirty="0">
              <a:solidFill>
                <a:schemeClr val="bg1"/>
              </a:solidFill>
            </a:endParaRPr>
          </a:p>
        </p:txBody>
      </p:sp>
      <p:sp>
        <p:nvSpPr>
          <p:cNvPr id="6" name="Espaço Reservado para Rodapé 5">
            <a:extLst>
              <a:ext uri="{FF2B5EF4-FFF2-40B4-BE49-F238E27FC236}">
                <a16:creationId xmlns:a16="http://schemas.microsoft.com/office/drawing/2014/main" id="{36432464-99F4-DF35-FB0E-02C71EDA14EA}"/>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2E7C58F3-1D5E-85E3-E332-1ABB23C7E899}"/>
              </a:ext>
            </a:extLst>
          </p:cNvPr>
          <p:cNvSpPr>
            <a:spLocks noGrp="1"/>
          </p:cNvSpPr>
          <p:nvPr>
            <p:ph type="sldNum" sz="quarter" idx="12"/>
          </p:nvPr>
        </p:nvSpPr>
        <p:spPr/>
        <p:txBody>
          <a:bodyPr/>
          <a:lstStyle/>
          <a:p>
            <a:fld id="{4984923B-3F40-49CB-9B79-A738AB3B4A3B}" type="slidenum">
              <a:rPr lang="pt-BR" smtClean="0"/>
              <a:t>12</a:t>
            </a:fld>
            <a:endParaRPr lang="pt-BR"/>
          </a:p>
        </p:txBody>
      </p:sp>
      <p:sp>
        <p:nvSpPr>
          <p:cNvPr id="5" name="Meio-quadro 4"/>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29825637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D0323CE-12E6-0027-E954-CF86F41155E7}"/>
              </a:ext>
            </a:extLst>
          </p:cNvPr>
          <p:cNvSpPr>
            <a:spLocks noGrp="1"/>
          </p:cNvSpPr>
          <p:nvPr>
            <p:ph type="title"/>
          </p:nvPr>
        </p:nvSpPr>
        <p:spPr/>
        <p:txBody>
          <a:bodyPr/>
          <a:lstStyle/>
          <a:p>
            <a:r>
              <a:rPr lang="pt-BR" dirty="0"/>
              <a:t>Inteligência Artificial</a:t>
            </a:r>
          </a:p>
        </p:txBody>
      </p:sp>
      <p:sp>
        <p:nvSpPr>
          <p:cNvPr id="5" name="Espaço Reservado para Conteúdo 4">
            <a:extLst>
              <a:ext uri="{FF2B5EF4-FFF2-40B4-BE49-F238E27FC236}">
                <a16:creationId xmlns:a16="http://schemas.microsoft.com/office/drawing/2014/main" id="{8E4E36EB-F570-1DD7-F9A8-1AA7C6CEA222}"/>
              </a:ext>
            </a:extLst>
          </p:cNvPr>
          <p:cNvSpPr>
            <a:spLocks noGrp="1"/>
          </p:cNvSpPr>
          <p:nvPr>
            <p:ph idx="1"/>
          </p:nvPr>
        </p:nvSpPr>
        <p:spPr>
          <a:xfrm>
            <a:off x="838200" y="1615900"/>
            <a:ext cx="10515600" cy="4351338"/>
          </a:xfrm>
        </p:spPr>
        <p:txBody>
          <a:bodyPr>
            <a:normAutofit/>
          </a:bodyPr>
          <a:lstStyle/>
          <a:p>
            <a:pPr marL="0" indent="0">
              <a:buNone/>
            </a:pPr>
            <a:r>
              <a:rPr lang="pt-BR" sz="2000" b="0" i="0" dirty="0">
                <a:solidFill>
                  <a:srgbClr val="000000"/>
                </a:solidFill>
                <a:effectLst/>
                <a:latin typeface="Times New Roman" panose="02020603050405020304" pitchFamily="18" charset="0"/>
              </a:rPr>
              <a:t>	A inteligência artificial (IA) está presente no nosso dia a dia e, muitas vezes, nem percebemos. Ela aparece nos assistentes virtuais do celular, em plataformas como Netflix e </a:t>
            </a:r>
            <a:r>
              <a:rPr lang="pt-BR" sz="2000" b="0" i="0" dirty="0" err="1">
                <a:solidFill>
                  <a:srgbClr val="000000"/>
                </a:solidFill>
                <a:effectLst/>
                <a:latin typeface="Times New Roman" panose="02020603050405020304" pitchFamily="18" charset="0"/>
              </a:rPr>
              <a:t>Spotify</a:t>
            </a:r>
            <a:r>
              <a:rPr lang="pt-BR" sz="2000" b="0" i="0" dirty="0">
                <a:solidFill>
                  <a:srgbClr val="000000"/>
                </a:solidFill>
                <a:effectLst/>
                <a:latin typeface="Times New Roman" panose="02020603050405020304" pitchFamily="18" charset="0"/>
              </a:rPr>
              <a:t> e em aplicativos de trânsito como o Google Maps. Nos últimos anos, surgiram novas </a:t>
            </a:r>
            <a:r>
              <a:rPr lang="pt-BR" sz="2000" b="0" i="0" dirty="0" err="1">
                <a:solidFill>
                  <a:srgbClr val="000000"/>
                </a:solidFill>
                <a:effectLst/>
                <a:latin typeface="Times New Roman" panose="02020603050405020304" pitchFamily="18" charset="0"/>
              </a:rPr>
              <a:t>IAs</a:t>
            </a:r>
            <a:r>
              <a:rPr lang="pt-BR" sz="2000" b="0" i="0" dirty="0">
                <a:solidFill>
                  <a:srgbClr val="000000"/>
                </a:solidFill>
                <a:effectLst/>
                <a:latin typeface="Times New Roman" panose="02020603050405020304" pitchFamily="18" charset="0"/>
              </a:rPr>
              <a:t>, como o ChatGPT e o Google Gemini, que ampliaram ainda mais o uso dessa tecnologia.</a:t>
            </a:r>
          </a:p>
          <a:p>
            <a:pPr marL="0" indent="0">
              <a:buNone/>
            </a:pPr>
            <a:r>
              <a:rPr lang="pt-BR" sz="2000" dirty="0">
                <a:solidFill>
                  <a:srgbClr val="000000"/>
                </a:solidFill>
                <a:latin typeface="Times New Roman" panose="02020603050405020304" pitchFamily="18" charset="0"/>
              </a:rPr>
              <a:t>	</a:t>
            </a:r>
            <a:r>
              <a:rPr lang="pt-BR" sz="2000" b="0" i="0" dirty="0">
                <a:solidFill>
                  <a:srgbClr val="000000"/>
                </a:solidFill>
                <a:effectLst/>
                <a:latin typeface="Times New Roman" panose="02020603050405020304" pitchFamily="18" charset="0"/>
              </a:rPr>
              <a:t>Além disso, a inteligência artificial tem ajudado a enfrentar vários desafios do dia a dia e do mundo.</a:t>
            </a:r>
            <a:endParaRPr lang="pt-BR" sz="2000" dirty="0"/>
          </a:p>
        </p:txBody>
      </p:sp>
      <p:sp>
        <p:nvSpPr>
          <p:cNvPr id="6" name="Espaço Reservado para Rodapé 5">
            <a:extLst>
              <a:ext uri="{FF2B5EF4-FFF2-40B4-BE49-F238E27FC236}">
                <a16:creationId xmlns:a16="http://schemas.microsoft.com/office/drawing/2014/main" id="{A1102A7A-F2A1-75FD-002A-F6F2E01CF1B7}"/>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4199861F-EEB3-117E-D622-D568CDBB3690}"/>
              </a:ext>
            </a:extLst>
          </p:cNvPr>
          <p:cNvSpPr>
            <a:spLocks noGrp="1"/>
          </p:cNvSpPr>
          <p:nvPr>
            <p:ph type="sldNum" sz="quarter" idx="12"/>
          </p:nvPr>
        </p:nvSpPr>
        <p:spPr/>
        <p:txBody>
          <a:bodyPr/>
          <a:lstStyle/>
          <a:p>
            <a:fld id="{4984923B-3F40-49CB-9B79-A738AB3B4A3B}" type="slidenum">
              <a:rPr lang="pt-BR" smtClean="0"/>
              <a:t>13</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994" y="3480394"/>
            <a:ext cx="5478011" cy="2875956"/>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580248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47F51A9-E131-125F-33D0-CBB6CBD0A40F}"/>
              </a:ext>
            </a:extLst>
          </p:cNvPr>
          <p:cNvSpPr>
            <a:spLocks noGrp="1"/>
          </p:cNvSpPr>
          <p:nvPr>
            <p:ph type="title"/>
          </p:nvPr>
        </p:nvSpPr>
        <p:spPr>
          <a:xfrm>
            <a:off x="219919" y="1802867"/>
            <a:ext cx="11783028" cy="2852737"/>
          </a:xfrm>
        </p:spPr>
        <p:txBody>
          <a:bodyPr/>
          <a:lstStyle/>
          <a:p>
            <a:r>
              <a:rPr lang="pt-BR" dirty="0"/>
              <a:t> 	  </a:t>
            </a:r>
            <a:r>
              <a:rPr lang="pt-BR" b="1" dirty="0"/>
              <a:t>Os 3 Pilares da Tecnologia</a:t>
            </a:r>
            <a:r>
              <a:rPr lang="pt-BR" dirty="0"/>
              <a:t/>
            </a:r>
            <a:br>
              <a:rPr lang="pt-BR" dirty="0"/>
            </a:br>
            <a:endParaRPr lang="pt-BR" dirty="0"/>
          </a:p>
        </p:txBody>
      </p:sp>
      <p:sp>
        <p:nvSpPr>
          <p:cNvPr id="6" name="Espaço Reservado para Rodapé 5">
            <a:extLst>
              <a:ext uri="{FF2B5EF4-FFF2-40B4-BE49-F238E27FC236}">
                <a16:creationId xmlns:a16="http://schemas.microsoft.com/office/drawing/2014/main" id="{2A9A7E3D-0A4B-CF4E-0DBC-ED88469AE52B}"/>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5E3FC6BC-7AF7-E098-C6E5-7E99BF318647}"/>
              </a:ext>
            </a:extLst>
          </p:cNvPr>
          <p:cNvSpPr>
            <a:spLocks noGrp="1"/>
          </p:cNvSpPr>
          <p:nvPr>
            <p:ph type="sldNum" sz="quarter" idx="12"/>
          </p:nvPr>
        </p:nvSpPr>
        <p:spPr/>
        <p:txBody>
          <a:bodyPr/>
          <a:lstStyle/>
          <a:p>
            <a:fld id="{4984923B-3F40-49CB-9B79-A738AB3B4A3B}" type="slidenum">
              <a:rPr lang="pt-BR" smtClean="0"/>
              <a:t>14</a:t>
            </a:fld>
            <a:endParaRPr lang="pt-BR"/>
          </a:p>
        </p:txBody>
      </p:sp>
      <p:sp>
        <p:nvSpPr>
          <p:cNvPr id="5" name="Meio-quadro 4"/>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31881742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DEF9F30-C21D-E93A-4016-C4B319FD84B7}"/>
              </a:ext>
            </a:extLst>
          </p:cNvPr>
          <p:cNvSpPr>
            <a:spLocks noGrp="1"/>
          </p:cNvSpPr>
          <p:nvPr>
            <p:ph type="title"/>
          </p:nvPr>
        </p:nvSpPr>
        <p:spPr/>
        <p:txBody>
          <a:bodyPr/>
          <a:lstStyle/>
          <a:p>
            <a:r>
              <a:rPr lang="pt-BR" dirty="0"/>
              <a:t>Os 3 Pilares da Tecnologia</a:t>
            </a:r>
          </a:p>
        </p:txBody>
      </p:sp>
      <p:sp>
        <p:nvSpPr>
          <p:cNvPr id="5" name="Espaço Reservado para Conteúdo 4">
            <a:extLst>
              <a:ext uri="{FF2B5EF4-FFF2-40B4-BE49-F238E27FC236}">
                <a16:creationId xmlns:a16="http://schemas.microsoft.com/office/drawing/2014/main" id="{3DD3B2F9-E235-0B33-D3F0-47314E70B2FD}"/>
              </a:ext>
            </a:extLst>
          </p:cNvPr>
          <p:cNvSpPr>
            <a:spLocks noGrp="1"/>
          </p:cNvSpPr>
          <p:nvPr>
            <p:ph idx="1"/>
          </p:nvPr>
        </p:nvSpPr>
        <p:spPr/>
        <p:txBody>
          <a:bodyPr>
            <a:normAutofit/>
          </a:bodyPr>
          <a:lstStyle/>
          <a:p>
            <a:pPr marL="0" indent="0">
              <a:buNone/>
            </a:pPr>
            <a:r>
              <a:rPr lang="pt-BR" sz="2000" b="0" i="0" dirty="0">
                <a:solidFill>
                  <a:srgbClr val="000000"/>
                </a:solidFill>
                <a:effectLst/>
                <a:latin typeface="Times New Roman" panose="02020603050405020304" pitchFamily="18" charset="0"/>
              </a:rPr>
              <a:t>	Os 3 pilares da tecnologia e inovação são a base da transformação industrial moderna. Eles sustentam a produtividade, a conectividade e a sustentabilidade dentro das empresas, garantindo processos mais inteligentes e competitivos.  Eles sustentam a produtividade, a conectividade e a sustentabilidade dentro das empresas, garantindo processos mais inteligentes e competitivos.  </a:t>
            </a:r>
            <a:endParaRPr lang="pt-BR" sz="2000" dirty="0"/>
          </a:p>
        </p:txBody>
      </p:sp>
      <p:sp>
        <p:nvSpPr>
          <p:cNvPr id="6" name="Espaço Reservado para Rodapé 5">
            <a:extLst>
              <a:ext uri="{FF2B5EF4-FFF2-40B4-BE49-F238E27FC236}">
                <a16:creationId xmlns:a16="http://schemas.microsoft.com/office/drawing/2014/main" id="{14D4AFC4-4C5A-108B-8A39-646F9A530F3E}"/>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6A073E36-56A7-AC4C-7CD4-CA143CAC6662}"/>
              </a:ext>
            </a:extLst>
          </p:cNvPr>
          <p:cNvSpPr>
            <a:spLocks noGrp="1"/>
          </p:cNvSpPr>
          <p:nvPr>
            <p:ph type="sldNum" sz="quarter" idx="12"/>
          </p:nvPr>
        </p:nvSpPr>
        <p:spPr/>
        <p:txBody>
          <a:bodyPr/>
          <a:lstStyle/>
          <a:p>
            <a:fld id="{4984923B-3F40-49CB-9B79-A738AB3B4A3B}" type="slidenum">
              <a:rPr lang="pt-BR" smtClean="0"/>
              <a:t>15</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350640"/>
            <a:ext cx="4743161" cy="2679117"/>
          </a:xfrm>
          <a:prstGeom prst="rect">
            <a:avLst/>
          </a:prstGeom>
        </p:spPr>
      </p:pic>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0536" y="3350640"/>
            <a:ext cx="4020127" cy="2680085"/>
          </a:xfrm>
          <a:prstGeom prst="rect">
            <a:avLst/>
          </a:prstGeom>
        </p:spPr>
      </p:pic>
      <p:cxnSp>
        <p:nvCxnSpPr>
          <p:cNvPr id="9" name="Conector reto 8"/>
          <p:cNvCxnSpPr/>
          <p:nvPr/>
        </p:nvCxnSpPr>
        <p:spPr>
          <a:xfrm>
            <a:off x="838200" y="3350640"/>
            <a:ext cx="47955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ector reto 11"/>
          <p:cNvCxnSpPr/>
          <p:nvPr/>
        </p:nvCxnSpPr>
        <p:spPr>
          <a:xfrm>
            <a:off x="5581361" y="3350640"/>
            <a:ext cx="0" cy="2679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ector reto 15"/>
          <p:cNvCxnSpPr/>
          <p:nvPr/>
        </p:nvCxnSpPr>
        <p:spPr>
          <a:xfrm flipH="1">
            <a:off x="838199" y="3350640"/>
            <a:ext cx="1" cy="2679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to 21"/>
          <p:cNvCxnSpPr/>
          <p:nvPr/>
        </p:nvCxnSpPr>
        <p:spPr>
          <a:xfrm flipH="1">
            <a:off x="838199" y="6029757"/>
            <a:ext cx="4743162"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Retângulo Arredondado 12"/>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263166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19FC6E9-6C2A-84F9-FC7E-DF8AE27D8F0D}"/>
              </a:ext>
            </a:extLst>
          </p:cNvPr>
          <p:cNvSpPr>
            <a:spLocks noGrp="1"/>
          </p:cNvSpPr>
          <p:nvPr>
            <p:ph type="title"/>
          </p:nvPr>
        </p:nvSpPr>
        <p:spPr/>
        <p:txBody>
          <a:bodyPr/>
          <a:lstStyle/>
          <a:p>
            <a:r>
              <a:rPr lang="pt-BR" dirty="0"/>
              <a:t>	     </a:t>
            </a:r>
            <a:r>
              <a:rPr lang="pt-BR" b="1" dirty="0"/>
              <a:t>Cloud Computing </a:t>
            </a:r>
          </a:p>
        </p:txBody>
      </p:sp>
      <p:sp>
        <p:nvSpPr>
          <p:cNvPr id="5" name="Espaço Reservado para Texto 4">
            <a:extLst>
              <a:ext uri="{FF2B5EF4-FFF2-40B4-BE49-F238E27FC236}">
                <a16:creationId xmlns:a16="http://schemas.microsoft.com/office/drawing/2014/main" id="{F1A028B6-DB80-D3CC-CD6E-5E70ECC3AC31}"/>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C7CDCF57-40BF-66C8-7D9C-3932EAB85DAF}"/>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80D50B8A-5483-2399-7847-C98B029ED161}"/>
              </a:ext>
            </a:extLst>
          </p:cNvPr>
          <p:cNvSpPr>
            <a:spLocks noGrp="1"/>
          </p:cNvSpPr>
          <p:nvPr>
            <p:ph type="sldNum" sz="quarter" idx="12"/>
          </p:nvPr>
        </p:nvSpPr>
        <p:spPr/>
        <p:txBody>
          <a:bodyPr/>
          <a:lstStyle/>
          <a:p>
            <a:fld id="{4984923B-3F40-49CB-9B79-A738AB3B4A3B}" type="slidenum">
              <a:rPr lang="pt-BR" smtClean="0"/>
              <a:t>16</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1820766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A411FFF-9397-74B3-E00B-1B6281038FA3}"/>
              </a:ext>
            </a:extLst>
          </p:cNvPr>
          <p:cNvSpPr>
            <a:spLocks noGrp="1"/>
          </p:cNvSpPr>
          <p:nvPr>
            <p:ph type="title"/>
          </p:nvPr>
        </p:nvSpPr>
        <p:spPr/>
        <p:txBody>
          <a:bodyPr/>
          <a:lstStyle/>
          <a:p>
            <a:r>
              <a:rPr lang="pt-BR" dirty="0"/>
              <a:t>Cloud Computing </a:t>
            </a:r>
          </a:p>
        </p:txBody>
      </p:sp>
      <p:sp>
        <p:nvSpPr>
          <p:cNvPr id="5" name="Espaço Reservado para Conteúdo 4">
            <a:extLst>
              <a:ext uri="{FF2B5EF4-FFF2-40B4-BE49-F238E27FC236}">
                <a16:creationId xmlns:a16="http://schemas.microsoft.com/office/drawing/2014/main" id="{F266BE9A-0554-E1A5-6F9C-E9F62D59D534}"/>
              </a:ext>
            </a:extLst>
          </p:cNvPr>
          <p:cNvSpPr>
            <a:spLocks noGrp="1"/>
          </p:cNvSpPr>
          <p:nvPr>
            <p:ph idx="1"/>
          </p:nvPr>
        </p:nvSpPr>
        <p:spPr/>
        <p:txBody>
          <a:bodyPr>
            <a:normAutofit/>
          </a:bodyPr>
          <a:lstStyle/>
          <a:p>
            <a:pPr marL="0" indent="0" algn="just" rtl="0" fontAlgn="base">
              <a:buNone/>
            </a:pPr>
            <a:r>
              <a:rPr lang="pt-BR" sz="2000" dirty="0"/>
              <a:t> 	 </a:t>
            </a:r>
            <a:r>
              <a:rPr lang="pt-BR" sz="2000" b="0" i="0" dirty="0">
                <a:solidFill>
                  <a:srgbClr val="000000"/>
                </a:solidFill>
                <a:effectLst/>
                <a:latin typeface="Times New Roman" panose="02020603050405020304" pitchFamily="18" charset="0"/>
              </a:rPr>
              <a:t>A computação em nuvem deixou de ser apenas "armazenamento" para se tornar a infraestrutura ágil que sustenta o mundo moderno.  </a:t>
            </a:r>
            <a:endParaRPr lang="pt-BR" sz="2000" b="0" i="0" dirty="0">
              <a:solidFill>
                <a:srgbClr val="000000"/>
              </a:solidFill>
              <a:effectLst/>
              <a:latin typeface="arial" panose="020B0604020202020204" pitchFamily="34" charset="0"/>
            </a:endParaRPr>
          </a:p>
          <a:p>
            <a:pPr marL="0" indent="0" algn="just" rtl="0" fontAlgn="base">
              <a:buNone/>
            </a:pPr>
            <a:r>
              <a:rPr lang="pt-BR" sz="2000" b="0" i="0" dirty="0" smtClean="0">
                <a:solidFill>
                  <a:srgbClr val="000000"/>
                </a:solidFill>
                <a:effectLst/>
                <a:latin typeface="Times New Roman" panose="02020603050405020304" pitchFamily="18" charset="0"/>
              </a:rPr>
              <a:t>	Eficiência </a:t>
            </a:r>
            <a:r>
              <a:rPr lang="pt-BR" sz="2000" b="0" i="0" dirty="0">
                <a:solidFill>
                  <a:srgbClr val="000000"/>
                </a:solidFill>
                <a:effectLst/>
                <a:latin typeface="Times New Roman" panose="02020603050405020304" pitchFamily="18" charset="0"/>
              </a:rPr>
              <a:t>Operacional: Permite o modelo </a:t>
            </a:r>
            <a:r>
              <a:rPr lang="pt-BR" sz="2000" b="0" i="0" dirty="0" err="1">
                <a:solidFill>
                  <a:srgbClr val="000000"/>
                </a:solidFill>
                <a:effectLst/>
                <a:latin typeface="Times New Roman" panose="02020603050405020304" pitchFamily="18" charset="0"/>
              </a:rPr>
              <a:t>Pay</a:t>
            </a:r>
            <a:r>
              <a:rPr lang="pt-BR" sz="2000" b="0" i="0" dirty="0">
                <a:solidFill>
                  <a:srgbClr val="000000"/>
                </a:solidFill>
                <a:effectLst/>
                <a:latin typeface="Times New Roman" panose="02020603050405020304" pitchFamily="18" charset="0"/>
              </a:rPr>
              <a:t>-as-</a:t>
            </a:r>
            <a:r>
              <a:rPr lang="pt-BR" sz="2000" b="0" i="0" dirty="0" err="1">
                <a:solidFill>
                  <a:srgbClr val="000000"/>
                </a:solidFill>
                <a:effectLst/>
                <a:latin typeface="Times New Roman" panose="02020603050405020304" pitchFamily="18" charset="0"/>
              </a:rPr>
              <a:t>you</a:t>
            </a:r>
            <a:r>
              <a:rPr lang="pt-BR" sz="2000" b="0" i="0" dirty="0">
                <a:solidFill>
                  <a:srgbClr val="000000"/>
                </a:solidFill>
                <a:effectLst/>
                <a:latin typeface="Times New Roman" panose="02020603050405020304" pitchFamily="18" charset="0"/>
              </a:rPr>
              <a:t>-go (pague pelo que usar). Empresas não precisam mais de grandes data centers ociosos; elas escalam a infraestrutura em segundos conforme a demanda.  </a:t>
            </a:r>
            <a:endParaRPr lang="pt-BR" sz="2000" b="0" i="0" dirty="0">
              <a:solidFill>
                <a:srgbClr val="000000"/>
              </a:solidFill>
              <a:effectLst/>
              <a:latin typeface="arial" panose="020B0604020202020204" pitchFamily="34" charset="0"/>
            </a:endParaRPr>
          </a:p>
          <a:p>
            <a:pPr marL="0" indent="0">
              <a:buNone/>
            </a:pPr>
            <a:endParaRPr lang="pt-BR" sz="2000" dirty="0"/>
          </a:p>
        </p:txBody>
      </p:sp>
      <p:sp>
        <p:nvSpPr>
          <p:cNvPr id="6" name="Espaço Reservado para Rodapé 5">
            <a:extLst>
              <a:ext uri="{FF2B5EF4-FFF2-40B4-BE49-F238E27FC236}">
                <a16:creationId xmlns:a16="http://schemas.microsoft.com/office/drawing/2014/main" id="{A8499EB5-571F-9436-6A7B-DBD651DD43DB}"/>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959FAA60-DC0E-22BA-4BA4-CC85AFB51211}"/>
              </a:ext>
            </a:extLst>
          </p:cNvPr>
          <p:cNvSpPr>
            <a:spLocks noGrp="1"/>
          </p:cNvSpPr>
          <p:nvPr>
            <p:ph type="sldNum" sz="quarter" idx="12"/>
          </p:nvPr>
        </p:nvSpPr>
        <p:spPr/>
        <p:txBody>
          <a:bodyPr/>
          <a:lstStyle/>
          <a:p>
            <a:fld id="{4984923B-3F40-49CB-9B79-A738AB3B4A3B}" type="slidenum">
              <a:rPr lang="pt-BR" smtClean="0"/>
              <a:t>17</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7858" y="3587811"/>
            <a:ext cx="3736283" cy="2678845"/>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928328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A42C5C0-29B5-C3DD-A96A-B969F5FF780B}"/>
              </a:ext>
            </a:extLst>
          </p:cNvPr>
          <p:cNvSpPr>
            <a:spLocks noGrp="1"/>
          </p:cNvSpPr>
          <p:nvPr>
            <p:ph type="title"/>
          </p:nvPr>
        </p:nvSpPr>
        <p:spPr/>
        <p:txBody>
          <a:bodyPr/>
          <a:lstStyle/>
          <a:p>
            <a:r>
              <a:rPr lang="pt-BR" sz="6000" b="1" dirty="0"/>
              <a:t>	   </a:t>
            </a:r>
            <a:r>
              <a:rPr lang="pt-BR" sz="6000" b="1" dirty="0" smtClean="0"/>
              <a:t> Big </a:t>
            </a:r>
            <a:r>
              <a:rPr lang="pt-BR" sz="6000" b="1" dirty="0"/>
              <a:t>Data &amp; Analytics</a:t>
            </a:r>
            <a:endParaRPr lang="pt-BR" b="1" dirty="0"/>
          </a:p>
        </p:txBody>
      </p:sp>
      <p:sp>
        <p:nvSpPr>
          <p:cNvPr id="5" name="Espaço Reservado para Texto 4">
            <a:extLst>
              <a:ext uri="{FF2B5EF4-FFF2-40B4-BE49-F238E27FC236}">
                <a16:creationId xmlns:a16="http://schemas.microsoft.com/office/drawing/2014/main" id="{6EA34253-93A6-77A7-A1F2-A37D9DAD7B0D}"/>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33762744-37E0-FB83-AE87-E88E73687036}"/>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85720E5B-EC95-41B8-E1B1-8C86EF9251E9}"/>
              </a:ext>
            </a:extLst>
          </p:cNvPr>
          <p:cNvSpPr>
            <a:spLocks noGrp="1"/>
          </p:cNvSpPr>
          <p:nvPr>
            <p:ph type="sldNum" sz="quarter" idx="12"/>
          </p:nvPr>
        </p:nvSpPr>
        <p:spPr/>
        <p:txBody>
          <a:bodyPr/>
          <a:lstStyle/>
          <a:p>
            <a:fld id="{4984923B-3F40-49CB-9B79-A738AB3B4A3B}" type="slidenum">
              <a:rPr lang="pt-BR" smtClean="0"/>
              <a:t>18</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36734426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A1140F9-4A5E-D865-CEC0-15D0A52B8DB7}"/>
              </a:ext>
            </a:extLst>
          </p:cNvPr>
          <p:cNvSpPr>
            <a:spLocks noGrp="1"/>
          </p:cNvSpPr>
          <p:nvPr>
            <p:ph type="title"/>
          </p:nvPr>
        </p:nvSpPr>
        <p:spPr/>
        <p:txBody>
          <a:bodyPr/>
          <a:lstStyle/>
          <a:p>
            <a:r>
              <a:rPr lang="pt-BR" sz="4400" dirty="0"/>
              <a:t>Big Data &amp; Analytics</a:t>
            </a:r>
            <a:endParaRPr lang="pt-BR" dirty="0"/>
          </a:p>
        </p:txBody>
      </p:sp>
      <p:sp>
        <p:nvSpPr>
          <p:cNvPr id="5" name="Espaço Reservado para Conteúdo 4">
            <a:extLst>
              <a:ext uri="{FF2B5EF4-FFF2-40B4-BE49-F238E27FC236}">
                <a16:creationId xmlns:a16="http://schemas.microsoft.com/office/drawing/2014/main" id="{744AD857-F0DD-B572-E5F4-BBD3F809DCBF}"/>
              </a:ext>
            </a:extLst>
          </p:cNvPr>
          <p:cNvSpPr>
            <a:spLocks noGrp="1"/>
          </p:cNvSpPr>
          <p:nvPr>
            <p:ph idx="1"/>
          </p:nvPr>
        </p:nvSpPr>
        <p:spPr/>
        <p:txBody>
          <a:bodyPr>
            <a:normAutofit/>
          </a:bodyPr>
          <a:lstStyle/>
          <a:p>
            <a:pPr marL="457200" lvl="1" indent="0">
              <a:buNone/>
            </a:pPr>
            <a:r>
              <a:rPr lang="pt-BR" sz="2000" b="0" i="0" dirty="0">
                <a:solidFill>
                  <a:srgbClr val="000000"/>
                </a:solidFill>
                <a:effectLst/>
                <a:latin typeface="Times New Roman" panose="02020603050405020304" pitchFamily="18" charset="0"/>
              </a:rPr>
              <a:t>	Dados são o "petróleo" do século XXI, mas o Big Data é a refinaria que transforma o bruto em valor.  </a:t>
            </a:r>
            <a:endParaRPr lang="pt-BR" sz="2000" dirty="0"/>
          </a:p>
        </p:txBody>
      </p:sp>
      <p:sp>
        <p:nvSpPr>
          <p:cNvPr id="6" name="Espaço Reservado para Rodapé 5">
            <a:extLst>
              <a:ext uri="{FF2B5EF4-FFF2-40B4-BE49-F238E27FC236}">
                <a16:creationId xmlns:a16="http://schemas.microsoft.com/office/drawing/2014/main" id="{24CE9763-FF3F-F064-48AF-9486650ABBD8}"/>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CD00F9ED-077D-BA81-955A-E5550038BE44}"/>
              </a:ext>
            </a:extLst>
          </p:cNvPr>
          <p:cNvSpPr>
            <a:spLocks noGrp="1"/>
          </p:cNvSpPr>
          <p:nvPr>
            <p:ph type="sldNum" sz="quarter" idx="12"/>
          </p:nvPr>
        </p:nvSpPr>
        <p:spPr/>
        <p:txBody>
          <a:bodyPr/>
          <a:lstStyle/>
          <a:p>
            <a:fld id="{4984923B-3F40-49CB-9B79-A738AB3B4A3B}" type="slidenum">
              <a:rPr lang="pt-BR" smtClean="0"/>
              <a:t>19</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034" y="3516999"/>
            <a:ext cx="3307931" cy="2201278"/>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170595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F4B26C-6CA1-1B75-5A74-4A47085FB366}"/>
              </a:ext>
            </a:extLst>
          </p:cNvPr>
          <p:cNvSpPr>
            <a:spLocks noGrp="1"/>
          </p:cNvSpPr>
          <p:nvPr>
            <p:ph type="title"/>
          </p:nvPr>
        </p:nvSpPr>
        <p:spPr/>
        <p:txBody>
          <a:bodyPr/>
          <a:lstStyle/>
          <a:p>
            <a:r>
              <a:rPr lang="pt-BR" dirty="0" smtClean="0"/>
              <a:t>      </a:t>
            </a:r>
            <a:r>
              <a:rPr lang="pt-BR" b="1" dirty="0" smtClean="0"/>
              <a:t>Inteligência Artificial (2)</a:t>
            </a:r>
            <a:endParaRPr lang="pt-BR" b="1" dirty="0"/>
          </a:p>
        </p:txBody>
      </p:sp>
      <p:sp>
        <p:nvSpPr>
          <p:cNvPr id="5" name="Espaço Reservado para Texto 4">
            <a:extLst>
              <a:ext uri="{FF2B5EF4-FFF2-40B4-BE49-F238E27FC236}">
                <a16:creationId xmlns:a16="http://schemas.microsoft.com/office/drawing/2014/main" id="{2CEF78E6-11A3-2723-D7B7-9C8B900BDB3C}"/>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859CAFB2-A121-8AB4-AEF0-C426E56ED63E}"/>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9975D8C8-A60D-EF66-A38A-9A9F503DFD83}"/>
              </a:ext>
            </a:extLst>
          </p:cNvPr>
          <p:cNvSpPr>
            <a:spLocks noGrp="1"/>
          </p:cNvSpPr>
          <p:nvPr>
            <p:ph type="sldNum" sz="quarter" idx="12"/>
          </p:nvPr>
        </p:nvSpPr>
        <p:spPr/>
        <p:txBody>
          <a:bodyPr/>
          <a:lstStyle/>
          <a:p>
            <a:fld id="{4984923B-3F40-49CB-9B79-A738AB3B4A3B}" type="slidenum">
              <a:rPr lang="pt-BR" smtClean="0"/>
              <a:t>20</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24850826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0C7A76E-58EB-401D-2883-8BB93FDAA4DF}"/>
              </a:ext>
            </a:extLst>
          </p:cNvPr>
          <p:cNvSpPr>
            <a:spLocks noGrp="1"/>
          </p:cNvSpPr>
          <p:nvPr>
            <p:ph type="title"/>
          </p:nvPr>
        </p:nvSpPr>
        <p:spPr/>
        <p:txBody>
          <a:bodyPr/>
          <a:lstStyle/>
          <a:p>
            <a:r>
              <a:rPr lang="pt-BR" dirty="0"/>
              <a:t>Inteligência </a:t>
            </a:r>
            <a:r>
              <a:rPr lang="pt-BR" dirty="0" smtClean="0"/>
              <a:t>Artificial 2</a:t>
            </a:r>
            <a:endParaRPr lang="pt-BR" dirty="0"/>
          </a:p>
        </p:txBody>
      </p:sp>
      <p:sp>
        <p:nvSpPr>
          <p:cNvPr id="5" name="Espaço Reservado para Conteúdo 4">
            <a:extLst>
              <a:ext uri="{FF2B5EF4-FFF2-40B4-BE49-F238E27FC236}">
                <a16:creationId xmlns:a16="http://schemas.microsoft.com/office/drawing/2014/main" id="{B9AF1DA0-3594-3022-BD0A-9F0213C8E532}"/>
              </a:ext>
            </a:extLst>
          </p:cNvPr>
          <p:cNvSpPr>
            <a:spLocks noGrp="1"/>
          </p:cNvSpPr>
          <p:nvPr>
            <p:ph idx="1"/>
          </p:nvPr>
        </p:nvSpPr>
        <p:spPr/>
        <p:txBody>
          <a:bodyPr/>
          <a:lstStyle/>
          <a:p>
            <a:pPr marL="0" indent="0" algn="just" rtl="0" fontAlgn="base">
              <a:buNone/>
            </a:pPr>
            <a:r>
              <a:rPr lang="pt-BR" sz="1800" b="0" i="0" dirty="0">
                <a:solidFill>
                  <a:srgbClr val="000000"/>
                </a:solidFill>
                <a:effectLst/>
                <a:latin typeface="Times New Roman" panose="02020603050405020304" pitchFamily="18" charset="0"/>
              </a:rPr>
              <a:t>	A IA é o que permite que a tecnologia deixe de ser reativa para se tornar proativa.  </a:t>
            </a:r>
            <a:endParaRPr lang="pt-BR" b="0" i="0" dirty="0">
              <a:solidFill>
                <a:srgbClr val="000000"/>
              </a:solidFill>
              <a:effectLst/>
              <a:latin typeface="arial" panose="020B0604020202020204" pitchFamily="34" charset="0"/>
            </a:endParaRPr>
          </a:p>
          <a:p>
            <a:pPr marL="0" indent="0" algn="just" rtl="0" fontAlgn="base">
              <a:buNone/>
            </a:pPr>
            <a:r>
              <a:rPr lang="pt-BR" sz="1800" b="0" i="0" dirty="0" smtClean="0">
                <a:solidFill>
                  <a:srgbClr val="000000"/>
                </a:solidFill>
                <a:effectLst/>
                <a:latin typeface="Times New Roman" panose="02020603050405020304" pitchFamily="18" charset="0"/>
              </a:rPr>
              <a:t>	Eficiência </a:t>
            </a:r>
            <a:r>
              <a:rPr lang="pt-BR" sz="1800" b="0" i="0" dirty="0">
                <a:solidFill>
                  <a:srgbClr val="000000"/>
                </a:solidFill>
                <a:effectLst/>
                <a:latin typeface="Times New Roman" panose="02020603050405020304" pitchFamily="18" charset="0"/>
              </a:rPr>
              <a:t>Operacional: Automação de Processos Robóticos (RPA) e algoritmos de aprendizado de máquina eliminam tarefas repetitivas, permitindo que humanos foquem em estratégia e criatividade.  </a:t>
            </a:r>
            <a:endParaRPr lang="pt-BR" b="0" i="0" dirty="0">
              <a:solidFill>
                <a:srgbClr val="000000"/>
              </a:solidFill>
              <a:effectLst/>
              <a:latin typeface="arial" panose="020B0604020202020204" pitchFamily="34" charset="0"/>
            </a:endParaRPr>
          </a:p>
          <a:p>
            <a:pPr lvl="1"/>
            <a:endParaRPr lang="pt-BR" dirty="0"/>
          </a:p>
        </p:txBody>
      </p:sp>
      <p:sp>
        <p:nvSpPr>
          <p:cNvPr id="6" name="Espaço Reservado para Rodapé 5">
            <a:extLst>
              <a:ext uri="{FF2B5EF4-FFF2-40B4-BE49-F238E27FC236}">
                <a16:creationId xmlns:a16="http://schemas.microsoft.com/office/drawing/2014/main" id="{3B5D52FE-C348-64EF-AEF3-BB19F0571A38}"/>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D3E76089-BD31-DC60-41E1-07F6D2DD1E62}"/>
              </a:ext>
            </a:extLst>
          </p:cNvPr>
          <p:cNvSpPr>
            <a:spLocks noGrp="1"/>
          </p:cNvSpPr>
          <p:nvPr>
            <p:ph type="sldNum" sz="quarter" idx="12"/>
          </p:nvPr>
        </p:nvSpPr>
        <p:spPr/>
        <p:txBody>
          <a:bodyPr/>
          <a:lstStyle/>
          <a:p>
            <a:fld id="{4984923B-3F40-49CB-9B79-A738AB3B4A3B}" type="slidenum">
              <a:rPr lang="pt-BR" smtClean="0"/>
              <a:t>21</a:t>
            </a:fld>
            <a:endParaRPr lang="pt-BR"/>
          </a:p>
        </p:txBody>
      </p:sp>
      <p:pic>
        <p:nvPicPr>
          <p:cNvPr id="2" name="Imagem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060280" y="3408216"/>
            <a:ext cx="4071440" cy="2290185"/>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591293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1232DB2-A55E-6854-CAB1-66D95CBFC5FD}"/>
              </a:ext>
            </a:extLst>
          </p:cNvPr>
          <p:cNvSpPr>
            <a:spLocks noGrp="1"/>
          </p:cNvSpPr>
          <p:nvPr>
            <p:ph type="title"/>
          </p:nvPr>
        </p:nvSpPr>
        <p:spPr/>
        <p:txBody>
          <a:bodyPr/>
          <a:lstStyle/>
          <a:p>
            <a:r>
              <a:rPr lang="pt-BR" dirty="0"/>
              <a:t>				     </a:t>
            </a:r>
            <a:r>
              <a:rPr lang="pt-BR" b="1" dirty="0"/>
              <a:t>IoT</a:t>
            </a:r>
          </a:p>
        </p:txBody>
      </p:sp>
      <p:sp>
        <p:nvSpPr>
          <p:cNvPr id="5" name="Espaço Reservado para Texto 4">
            <a:extLst>
              <a:ext uri="{FF2B5EF4-FFF2-40B4-BE49-F238E27FC236}">
                <a16:creationId xmlns:a16="http://schemas.microsoft.com/office/drawing/2014/main" id="{5C928712-8036-F259-3988-A8C82B9203F8}"/>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75FFB1C6-EEDD-C53E-7F0E-AA018732B3F3}"/>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3084A02B-664D-262D-DB67-989C775BE2F3}"/>
              </a:ext>
            </a:extLst>
          </p:cNvPr>
          <p:cNvSpPr>
            <a:spLocks noGrp="1"/>
          </p:cNvSpPr>
          <p:nvPr>
            <p:ph type="sldNum" sz="quarter" idx="12"/>
          </p:nvPr>
        </p:nvSpPr>
        <p:spPr/>
        <p:txBody>
          <a:bodyPr/>
          <a:lstStyle/>
          <a:p>
            <a:fld id="{4984923B-3F40-49CB-9B79-A738AB3B4A3B}" type="slidenum">
              <a:rPr lang="pt-BR" smtClean="0"/>
              <a:t>22</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23593501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D7FD59D-6D40-CE2D-2283-CFED7277E7E4}"/>
              </a:ext>
            </a:extLst>
          </p:cNvPr>
          <p:cNvSpPr>
            <a:spLocks noGrp="1"/>
          </p:cNvSpPr>
          <p:nvPr>
            <p:ph type="title"/>
          </p:nvPr>
        </p:nvSpPr>
        <p:spPr/>
        <p:txBody>
          <a:bodyPr/>
          <a:lstStyle/>
          <a:p>
            <a:r>
              <a:rPr lang="pt-BR" dirty="0"/>
              <a:t>IoT</a:t>
            </a:r>
          </a:p>
        </p:txBody>
      </p:sp>
      <p:sp>
        <p:nvSpPr>
          <p:cNvPr id="5" name="Espaço Reservado para Conteúdo 4">
            <a:extLst>
              <a:ext uri="{FF2B5EF4-FFF2-40B4-BE49-F238E27FC236}">
                <a16:creationId xmlns:a16="http://schemas.microsoft.com/office/drawing/2014/main" id="{201FDBD4-1EE6-0B30-D755-EE11F842726D}"/>
              </a:ext>
            </a:extLst>
          </p:cNvPr>
          <p:cNvSpPr>
            <a:spLocks noGrp="1"/>
          </p:cNvSpPr>
          <p:nvPr>
            <p:ph idx="1"/>
          </p:nvPr>
        </p:nvSpPr>
        <p:spPr/>
        <p:txBody>
          <a:bodyPr/>
          <a:lstStyle/>
          <a:p>
            <a:pPr marL="0" indent="0" algn="just" rtl="0" fontAlgn="base">
              <a:buNone/>
            </a:pPr>
            <a:r>
              <a:rPr lang="pt-BR" sz="2000" b="0" i="0" dirty="0">
                <a:solidFill>
                  <a:srgbClr val="000000"/>
                </a:solidFill>
                <a:effectLst/>
                <a:latin typeface="Times New Roman" panose="02020603050405020304" pitchFamily="18" charset="0"/>
              </a:rPr>
              <a:t>	O IoT é o que traz o "digital" para o mundo tátil, conectando o hardware ao software.  </a:t>
            </a:r>
            <a:endParaRPr lang="pt-BR" sz="2000" b="0" i="0" dirty="0">
              <a:solidFill>
                <a:srgbClr val="000000"/>
              </a:solidFill>
              <a:effectLst/>
              <a:latin typeface="arial" panose="020B0604020202020204" pitchFamily="34" charset="0"/>
            </a:endParaRPr>
          </a:p>
          <a:p>
            <a:pPr marL="0" indent="0" algn="just" rtl="0" fontAlgn="base">
              <a:buNone/>
            </a:pPr>
            <a:r>
              <a:rPr lang="pt-BR" sz="2000" b="0" i="0" dirty="0" smtClean="0">
                <a:solidFill>
                  <a:srgbClr val="000000"/>
                </a:solidFill>
                <a:effectLst/>
                <a:latin typeface="Times New Roman" panose="02020603050405020304" pitchFamily="18" charset="0"/>
              </a:rPr>
              <a:t>	Eficiência </a:t>
            </a:r>
            <a:r>
              <a:rPr lang="pt-BR" sz="2000" b="0" i="0" dirty="0">
                <a:solidFill>
                  <a:srgbClr val="000000"/>
                </a:solidFill>
                <a:effectLst/>
                <a:latin typeface="Times New Roman" panose="02020603050405020304" pitchFamily="18" charset="0"/>
              </a:rPr>
              <a:t>Operacional: Sensores em máquinas industriais (Indústria 4.0) avisam quando uma peça vai quebrar (Manutenção Preditiva). Isso evita prejuízos milionários com paradas não planejadas.  </a:t>
            </a:r>
            <a:endParaRPr lang="pt-BR" sz="2000" b="0" i="0" dirty="0">
              <a:solidFill>
                <a:srgbClr val="000000"/>
              </a:solidFill>
              <a:effectLst/>
              <a:latin typeface="arial" panose="020B0604020202020204" pitchFamily="34" charset="0"/>
            </a:endParaRPr>
          </a:p>
          <a:p>
            <a:pPr lvl="1"/>
            <a:endParaRPr lang="pt-BR" dirty="0"/>
          </a:p>
        </p:txBody>
      </p:sp>
      <p:sp>
        <p:nvSpPr>
          <p:cNvPr id="6" name="Espaço Reservado para Rodapé 5">
            <a:extLst>
              <a:ext uri="{FF2B5EF4-FFF2-40B4-BE49-F238E27FC236}">
                <a16:creationId xmlns:a16="http://schemas.microsoft.com/office/drawing/2014/main" id="{1399E7BF-1BCC-054B-2D74-482E633B47A4}"/>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BAA4E64E-B75A-6401-A969-45E3DE052231}"/>
              </a:ext>
            </a:extLst>
          </p:cNvPr>
          <p:cNvSpPr>
            <a:spLocks noGrp="1"/>
          </p:cNvSpPr>
          <p:nvPr>
            <p:ph type="sldNum" sz="quarter" idx="12"/>
          </p:nvPr>
        </p:nvSpPr>
        <p:spPr/>
        <p:txBody>
          <a:bodyPr/>
          <a:lstStyle/>
          <a:p>
            <a:fld id="{4984923B-3F40-49CB-9B79-A738AB3B4A3B}" type="slidenum">
              <a:rPr lang="pt-BR" smtClean="0"/>
              <a:t>23</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4175" y="2898703"/>
            <a:ext cx="6343650" cy="3571875"/>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4571341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8D6F88B-0E1C-150E-F0DE-A2B18C0A5A7A}"/>
              </a:ext>
            </a:extLst>
          </p:cNvPr>
          <p:cNvSpPr>
            <a:spLocks noGrp="1"/>
          </p:cNvSpPr>
          <p:nvPr>
            <p:ph type="title"/>
          </p:nvPr>
        </p:nvSpPr>
        <p:spPr/>
        <p:txBody>
          <a:bodyPr/>
          <a:lstStyle/>
          <a:p>
            <a:r>
              <a:rPr lang="pt-BR" dirty="0"/>
              <a:t>		    </a:t>
            </a:r>
            <a:r>
              <a:rPr lang="pt-BR" b="1" dirty="0"/>
              <a:t>Decomposição</a:t>
            </a:r>
          </a:p>
        </p:txBody>
      </p:sp>
      <p:sp>
        <p:nvSpPr>
          <p:cNvPr id="5" name="Espaço Reservado para Texto 4">
            <a:extLst>
              <a:ext uri="{FF2B5EF4-FFF2-40B4-BE49-F238E27FC236}">
                <a16:creationId xmlns:a16="http://schemas.microsoft.com/office/drawing/2014/main" id="{DBEA4BE9-5EDB-7246-EC46-476FE5AB6C71}"/>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74E7094D-E110-FE96-5149-FEEC93308FAB}"/>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33627CD6-1649-7C84-BBBD-79C80624DEC8}"/>
              </a:ext>
            </a:extLst>
          </p:cNvPr>
          <p:cNvSpPr>
            <a:spLocks noGrp="1"/>
          </p:cNvSpPr>
          <p:nvPr>
            <p:ph type="sldNum" sz="quarter" idx="12"/>
          </p:nvPr>
        </p:nvSpPr>
        <p:spPr/>
        <p:txBody>
          <a:bodyPr/>
          <a:lstStyle/>
          <a:p>
            <a:fld id="{4984923B-3F40-49CB-9B79-A738AB3B4A3B}" type="slidenum">
              <a:rPr lang="pt-BR" smtClean="0"/>
              <a:t>24</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3569776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1B1EF7F-1470-22C4-FBC8-FC474C7DF711}"/>
              </a:ext>
            </a:extLst>
          </p:cNvPr>
          <p:cNvSpPr>
            <a:spLocks noGrp="1"/>
          </p:cNvSpPr>
          <p:nvPr>
            <p:ph type="title"/>
          </p:nvPr>
        </p:nvSpPr>
        <p:spPr/>
        <p:txBody>
          <a:bodyPr/>
          <a:lstStyle/>
          <a:p>
            <a:r>
              <a:rPr lang="pt-BR" dirty="0"/>
              <a:t>Decomposição</a:t>
            </a:r>
          </a:p>
        </p:txBody>
      </p:sp>
      <p:sp>
        <p:nvSpPr>
          <p:cNvPr id="5" name="Espaço Reservado para Conteúdo 4">
            <a:extLst>
              <a:ext uri="{FF2B5EF4-FFF2-40B4-BE49-F238E27FC236}">
                <a16:creationId xmlns:a16="http://schemas.microsoft.com/office/drawing/2014/main" id="{34703CE8-8BB5-FB5B-D6CF-F8308B2FF664}"/>
              </a:ext>
            </a:extLst>
          </p:cNvPr>
          <p:cNvSpPr>
            <a:spLocks noGrp="1"/>
          </p:cNvSpPr>
          <p:nvPr>
            <p:ph idx="1"/>
          </p:nvPr>
        </p:nvSpPr>
        <p:spPr/>
        <p:txBody>
          <a:bodyPr>
            <a:normAutofit/>
          </a:bodyPr>
          <a:lstStyle/>
          <a:p>
            <a:pPr marL="0" indent="0" algn="just" rtl="0" fontAlgn="base">
              <a:buNone/>
            </a:pPr>
            <a:r>
              <a:rPr lang="pt-BR" sz="2000" b="0" i="0" dirty="0">
                <a:solidFill>
                  <a:srgbClr val="000000"/>
                </a:solidFill>
                <a:effectLst/>
                <a:latin typeface="Times New Roman" panose="02020603050405020304" pitchFamily="18" charset="0"/>
              </a:rPr>
              <a:t>	É o ato de quebrar um problema complexo em partes menores e mais gerenciáveis. </a:t>
            </a:r>
            <a:r>
              <a:rPr lang="pt-BR" sz="2000" b="0" i="0" dirty="0" smtClean="0">
                <a:solidFill>
                  <a:srgbClr val="000000"/>
                </a:solidFill>
                <a:effectLst/>
                <a:latin typeface="Times New Roman" panose="02020603050405020304" pitchFamily="18" charset="0"/>
              </a:rPr>
              <a:t>No </a:t>
            </a:r>
            <a:r>
              <a:rPr lang="pt-BR" sz="2000" b="0" i="0" dirty="0">
                <a:solidFill>
                  <a:srgbClr val="000000"/>
                </a:solidFill>
                <a:effectLst/>
                <a:latin typeface="Times New Roman" panose="02020603050405020304" pitchFamily="18" charset="0"/>
              </a:rPr>
              <a:t>Cotidiano: Planejar uma viagem internacional. Em vez de se desesperar com o "todo", você divide em</a:t>
            </a:r>
            <a:r>
              <a:rPr lang="pt-BR" sz="2000" dirty="0">
                <a:solidFill>
                  <a:srgbClr val="000000"/>
                </a:solidFill>
                <a:latin typeface="arial" panose="020B0604020202020204" pitchFamily="34" charset="0"/>
              </a:rPr>
              <a:t> </a:t>
            </a:r>
            <a:r>
              <a:rPr lang="pt-BR" sz="2000" dirty="0"/>
              <a:t>partes</a:t>
            </a:r>
          </a:p>
        </p:txBody>
      </p:sp>
      <p:sp>
        <p:nvSpPr>
          <p:cNvPr id="6" name="Espaço Reservado para Rodapé 5">
            <a:extLst>
              <a:ext uri="{FF2B5EF4-FFF2-40B4-BE49-F238E27FC236}">
                <a16:creationId xmlns:a16="http://schemas.microsoft.com/office/drawing/2014/main" id="{E3090209-8602-8E7A-D43A-2F60DE6D7DDB}"/>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D9EBDD1F-E138-A620-8392-DD5A9381F982}"/>
              </a:ext>
            </a:extLst>
          </p:cNvPr>
          <p:cNvSpPr>
            <a:spLocks noGrp="1"/>
          </p:cNvSpPr>
          <p:nvPr>
            <p:ph type="sldNum" sz="quarter" idx="12"/>
          </p:nvPr>
        </p:nvSpPr>
        <p:spPr/>
        <p:txBody>
          <a:bodyPr/>
          <a:lstStyle/>
          <a:p>
            <a:fld id="{4984923B-3F40-49CB-9B79-A738AB3B4A3B}" type="slidenum">
              <a:rPr lang="pt-BR" smtClean="0"/>
              <a:t>25</a:t>
            </a:fld>
            <a:endParaRPr lang="pt-BR"/>
          </a:p>
        </p:txBody>
      </p:sp>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9753382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38535AF-B926-5433-8298-15A4BD79B687}"/>
              </a:ext>
            </a:extLst>
          </p:cNvPr>
          <p:cNvSpPr>
            <a:spLocks noGrp="1"/>
          </p:cNvSpPr>
          <p:nvPr>
            <p:ph type="title"/>
          </p:nvPr>
        </p:nvSpPr>
        <p:spPr/>
        <p:txBody>
          <a:bodyPr/>
          <a:lstStyle/>
          <a:p>
            <a:r>
              <a:rPr lang="pt-BR" dirty="0"/>
              <a:t>			   </a:t>
            </a:r>
            <a:r>
              <a:rPr lang="pt-BR" b="1" dirty="0"/>
              <a:t>Abstração</a:t>
            </a:r>
          </a:p>
        </p:txBody>
      </p:sp>
      <p:sp>
        <p:nvSpPr>
          <p:cNvPr id="5" name="Espaço Reservado para Texto 4">
            <a:extLst>
              <a:ext uri="{FF2B5EF4-FFF2-40B4-BE49-F238E27FC236}">
                <a16:creationId xmlns:a16="http://schemas.microsoft.com/office/drawing/2014/main" id="{D6764FA4-3BBF-ED42-C476-A05B6D975B61}"/>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EE6A9C06-D2F2-C469-5E62-E7A48B4917D4}"/>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80CD91DE-132C-5872-7C7F-142BFA6018FF}"/>
              </a:ext>
            </a:extLst>
          </p:cNvPr>
          <p:cNvSpPr>
            <a:spLocks noGrp="1"/>
          </p:cNvSpPr>
          <p:nvPr>
            <p:ph type="sldNum" sz="quarter" idx="12"/>
          </p:nvPr>
        </p:nvSpPr>
        <p:spPr/>
        <p:txBody>
          <a:bodyPr/>
          <a:lstStyle/>
          <a:p>
            <a:fld id="{4984923B-3F40-49CB-9B79-A738AB3B4A3B}" type="slidenum">
              <a:rPr lang="pt-BR" smtClean="0"/>
              <a:t>26</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34406381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4E3232A-C05F-2631-F4DC-97278DCF71C4}"/>
              </a:ext>
            </a:extLst>
          </p:cNvPr>
          <p:cNvSpPr>
            <a:spLocks noGrp="1"/>
          </p:cNvSpPr>
          <p:nvPr>
            <p:ph type="title"/>
          </p:nvPr>
        </p:nvSpPr>
        <p:spPr/>
        <p:txBody>
          <a:bodyPr/>
          <a:lstStyle/>
          <a:p>
            <a:r>
              <a:rPr lang="pt-BR" dirty="0"/>
              <a:t>Abstração</a:t>
            </a:r>
          </a:p>
        </p:txBody>
      </p:sp>
      <p:sp>
        <p:nvSpPr>
          <p:cNvPr id="5" name="Espaço Reservado para Conteúdo 4">
            <a:extLst>
              <a:ext uri="{FF2B5EF4-FFF2-40B4-BE49-F238E27FC236}">
                <a16:creationId xmlns:a16="http://schemas.microsoft.com/office/drawing/2014/main" id="{DDC373DE-3C55-B082-A8C2-D6FA186D659A}"/>
              </a:ext>
            </a:extLst>
          </p:cNvPr>
          <p:cNvSpPr>
            <a:spLocks noGrp="1"/>
          </p:cNvSpPr>
          <p:nvPr>
            <p:ph idx="1"/>
          </p:nvPr>
        </p:nvSpPr>
        <p:spPr>
          <a:xfrm>
            <a:off x="838200" y="1585479"/>
            <a:ext cx="10515600" cy="4351338"/>
          </a:xfrm>
        </p:spPr>
        <p:txBody>
          <a:bodyPr>
            <a:normAutofit/>
          </a:bodyPr>
          <a:lstStyle/>
          <a:p>
            <a:pPr marL="0" indent="0">
              <a:buNone/>
            </a:pPr>
            <a:r>
              <a:rPr lang="pt-BR" sz="2000" b="0" i="0" dirty="0">
                <a:solidFill>
                  <a:srgbClr val="000000"/>
                </a:solidFill>
                <a:effectLst/>
                <a:latin typeface="Times New Roman" panose="02020603050405020304" pitchFamily="18" charset="0"/>
              </a:rPr>
              <a:t>	É a capacidade de filtrar informações irrelevantes e focar apenas nos detalhes essenciais para a solução.  </a:t>
            </a:r>
            <a:endParaRPr lang="pt-BR" sz="2000" dirty="0"/>
          </a:p>
        </p:txBody>
      </p:sp>
      <p:sp>
        <p:nvSpPr>
          <p:cNvPr id="6" name="Espaço Reservado para Rodapé 5">
            <a:extLst>
              <a:ext uri="{FF2B5EF4-FFF2-40B4-BE49-F238E27FC236}">
                <a16:creationId xmlns:a16="http://schemas.microsoft.com/office/drawing/2014/main" id="{D0EB672D-EE00-FC24-FA34-2CEC6475E385}"/>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3F1DCECA-3547-485E-D2D2-C2F22D9A7BCE}"/>
              </a:ext>
            </a:extLst>
          </p:cNvPr>
          <p:cNvSpPr>
            <a:spLocks noGrp="1"/>
          </p:cNvSpPr>
          <p:nvPr>
            <p:ph type="sldNum" sz="quarter" idx="12"/>
          </p:nvPr>
        </p:nvSpPr>
        <p:spPr/>
        <p:txBody>
          <a:bodyPr/>
          <a:lstStyle/>
          <a:p>
            <a:fld id="{4984923B-3F40-49CB-9B79-A738AB3B4A3B}" type="slidenum">
              <a:rPr lang="pt-BR" smtClean="0"/>
              <a:t>27</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5381" y="2291078"/>
            <a:ext cx="7121237" cy="3645739"/>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4677726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EE63D34-C68E-0812-8ED1-51511DC298CC}"/>
              </a:ext>
            </a:extLst>
          </p:cNvPr>
          <p:cNvSpPr>
            <a:spLocks noGrp="1"/>
          </p:cNvSpPr>
          <p:nvPr>
            <p:ph type="title"/>
          </p:nvPr>
        </p:nvSpPr>
        <p:spPr/>
        <p:txBody>
          <a:bodyPr/>
          <a:lstStyle/>
          <a:p>
            <a:r>
              <a:rPr lang="pt-BR" dirty="0"/>
              <a:t>			  </a:t>
            </a:r>
            <a:r>
              <a:rPr lang="pt-BR" b="1" dirty="0"/>
              <a:t>Algoritmos</a:t>
            </a:r>
          </a:p>
        </p:txBody>
      </p:sp>
      <p:sp>
        <p:nvSpPr>
          <p:cNvPr id="5" name="Espaço Reservado para Texto 4">
            <a:extLst>
              <a:ext uri="{FF2B5EF4-FFF2-40B4-BE49-F238E27FC236}">
                <a16:creationId xmlns:a16="http://schemas.microsoft.com/office/drawing/2014/main" id="{079D5009-6C5F-4ED6-616F-2A6D94DCEB77}"/>
              </a:ext>
            </a:extLst>
          </p:cNvPr>
          <p:cNvSpPr>
            <a:spLocks noGrp="1"/>
          </p:cNvSpPr>
          <p:nvPr>
            <p:ph type="body" idx="1"/>
          </p:nvPr>
        </p:nvSpPr>
        <p:spPr/>
        <p:txBody>
          <a:bodyPr/>
          <a:lstStyle/>
          <a:p>
            <a:endParaRPr lang="pt-BR"/>
          </a:p>
        </p:txBody>
      </p:sp>
      <p:sp>
        <p:nvSpPr>
          <p:cNvPr id="6" name="Espaço Reservado para Rodapé 5">
            <a:extLst>
              <a:ext uri="{FF2B5EF4-FFF2-40B4-BE49-F238E27FC236}">
                <a16:creationId xmlns:a16="http://schemas.microsoft.com/office/drawing/2014/main" id="{FF66C553-3080-A563-DC36-5EECC576A4CD}"/>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DEC0F14C-7620-2FB4-9A61-1CB0E376A9B0}"/>
              </a:ext>
            </a:extLst>
          </p:cNvPr>
          <p:cNvSpPr>
            <a:spLocks noGrp="1"/>
          </p:cNvSpPr>
          <p:nvPr>
            <p:ph type="sldNum" sz="quarter" idx="12"/>
          </p:nvPr>
        </p:nvSpPr>
        <p:spPr/>
        <p:txBody>
          <a:bodyPr/>
          <a:lstStyle/>
          <a:p>
            <a:fld id="{4984923B-3F40-49CB-9B79-A738AB3B4A3B}" type="slidenum">
              <a:rPr lang="pt-BR" smtClean="0"/>
              <a:t>28</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12548518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3FDF81C-1916-E527-A43C-89CFDE7DF4C4}"/>
              </a:ext>
            </a:extLst>
          </p:cNvPr>
          <p:cNvSpPr>
            <a:spLocks noGrp="1"/>
          </p:cNvSpPr>
          <p:nvPr>
            <p:ph type="title"/>
          </p:nvPr>
        </p:nvSpPr>
        <p:spPr/>
        <p:txBody>
          <a:bodyPr/>
          <a:lstStyle/>
          <a:p>
            <a:r>
              <a:rPr lang="pt-BR" dirty="0"/>
              <a:t>Algoritmos</a:t>
            </a:r>
          </a:p>
        </p:txBody>
      </p:sp>
      <p:sp>
        <p:nvSpPr>
          <p:cNvPr id="5" name="Espaço Reservado para Conteúdo 4">
            <a:extLst>
              <a:ext uri="{FF2B5EF4-FFF2-40B4-BE49-F238E27FC236}">
                <a16:creationId xmlns:a16="http://schemas.microsoft.com/office/drawing/2014/main" id="{AE00183A-AB89-E389-49C8-CA17B74E9BDB}"/>
              </a:ext>
            </a:extLst>
          </p:cNvPr>
          <p:cNvSpPr>
            <a:spLocks noGrp="1"/>
          </p:cNvSpPr>
          <p:nvPr>
            <p:ph idx="1"/>
          </p:nvPr>
        </p:nvSpPr>
        <p:spPr/>
        <p:txBody>
          <a:bodyPr/>
          <a:lstStyle/>
          <a:p>
            <a:pPr marL="0" indent="0" algn="just" rtl="0" fontAlgn="base">
              <a:buNone/>
            </a:pPr>
            <a:r>
              <a:rPr lang="pt-BR" sz="2000" b="0" i="0" dirty="0">
                <a:solidFill>
                  <a:srgbClr val="000000"/>
                </a:solidFill>
                <a:effectLst/>
                <a:latin typeface="Times New Roman" panose="02020603050405020304" pitchFamily="18" charset="0"/>
              </a:rPr>
              <a:t>	Criar uma sequência de instruções finitas e claras para resolver um problema ou realizar uma tarefa.  </a:t>
            </a:r>
            <a:endParaRPr lang="pt-BR" sz="2000" b="0" i="0" dirty="0">
              <a:solidFill>
                <a:srgbClr val="000000"/>
              </a:solidFill>
              <a:effectLst/>
              <a:latin typeface="arial" panose="020B0604020202020204" pitchFamily="34" charset="0"/>
            </a:endParaRPr>
          </a:p>
          <a:p>
            <a:pPr marL="0" indent="0" algn="just" rtl="0" fontAlgn="base">
              <a:buNone/>
            </a:pPr>
            <a:r>
              <a:rPr lang="pt-BR" sz="2000" b="0" i="0" smtClean="0">
                <a:solidFill>
                  <a:srgbClr val="000000"/>
                </a:solidFill>
                <a:effectLst/>
                <a:latin typeface="Times New Roman" panose="02020603050405020304" pitchFamily="18" charset="0"/>
              </a:rPr>
              <a:t>	No </a:t>
            </a:r>
            <a:r>
              <a:rPr lang="pt-BR" sz="2000" b="0" i="0" dirty="0">
                <a:solidFill>
                  <a:srgbClr val="000000"/>
                </a:solidFill>
                <a:effectLst/>
                <a:latin typeface="Times New Roman" panose="02020603050405020304" pitchFamily="18" charset="0"/>
              </a:rPr>
              <a:t>Cotidiano: Uma receita de bolo, o GPS indicando o caminho, ou até sua rotina matinal para sair de casa em 20 minutos.  </a:t>
            </a:r>
            <a:endParaRPr lang="pt-BR" sz="2000" b="0" i="0" dirty="0">
              <a:solidFill>
                <a:srgbClr val="000000"/>
              </a:solidFill>
              <a:effectLst/>
              <a:latin typeface="arial" panose="020B0604020202020204" pitchFamily="34" charset="0"/>
            </a:endParaRPr>
          </a:p>
          <a:p>
            <a:endParaRPr lang="pt-BR" dirty="0"/>
          </a:p>
        </p:txBody>
      </p:sp>
      <p:sp>
        <p:nvSpPr>
          <p:cNvPr id="6" name="Espaço Reservado para Rodapé 5">
            <a:extLst>
              <a:ext uri="{FF2B5EF4-FFF2-40B4-BE49-F238E27FC236}">
                <a16:creationId xmlns:a16="http://schemas.microsoft.com/office/drawing/2014/main" id="{878C00CA-2526-12ED-9FAA-FD49A20D867C}"/>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9C5600ED-44CF-D97B-D20F-3A199C2E987F}"/>
              </a:ext>
            </a:extLst>
          </p:cNvPr>
          <p:cNvSpPr>
            <a:spLocks noGrp="1"/>
          </p:cNvSpPr>
          <p:nvPr>
            <p:ph type="sldNum" sz="quarter" idx="12"/>
          </p:nvPr>
        </p:nvSpPr>
        <p:spPr/>
        <p:txBody>
          <a:bodyPr/>
          <a:lstStyle/>
          <a:p>
            <a:fld id="{4984923B-3F40-49CB-9B79-A738AB3B4A3B}" type="slidenum">
              <a:rPr lang="pt-BR" smtClean="0"/>
              <a:t>29</a:t>
            </a:fld>
            <a:endParaRPr lang="pt-B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184" y="3949468"/>
            <a:ext cx="4281631" cy="1598320"/>
          </a:xfrm>
          <a:prstGeom prst="rect">
            <a:avLst/>
          </a:prstGeom>
        </p:spPr>
      </p:pic>
      <p:sp>
        <p:nvSpPr>
          <p:cNvPr id="8" name="Retângulo Arredondado 7"/>
          <p:cNvSpPr/>
          <p:nvPr/>
        </p:nvSpPr>
        <p:spPr>
          <a:xfrm>
            <a:off x="0" y="-1"/>
            <a:ext cx="12192000" cy="3651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354395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0669D77-B26B-3E1B-51E4-43148ED32A68}"/>
              </a:ext>
            </a:extLst>
          </p:cNvPr>
          <p:cNvSpPr>
            <a:spLocks noGrp="1"/>
          </p:cNvSpPr>
          <p:nvPr>
            <p:ph type="title"/>
          </p:nvPr>
        </p:nvSpPr>
        <p:spPr/>
        <p:txBody>
          <a:bodyPr/>
          <a:lstStyle/>
          <a:p>
            <a:r>
              <a:rPr lang="pt-BR" dirty="0"/>
              <a:t>			  </a:t>
            </a:r>
            <a:r>
              <a:rPr lang="pt-BR" b="1" dirty="0"/>
              <a:t>Finalização</a:t>
            </a:r>
          </a:p>
        </p:txBody>
      </p:sp>
      <p:sp>
        <p:nvSpPr>
          <p:cNvPr id="6" name="Espaço Reservado para Rodapé 5">
            <a:extLst>
              <a:ext uri="{FF2B5EF4-FFF2-40B4-BE49-F238E27FC236}">
                <a16:creationId xmlns:a16="http://schemas.microsoft.com/office/drawing/2014/main" id="{4B51EB6A-BECA-650F-0675-A9417B55FA21}"/>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20ECFB6F-C1B0-5FBB-4DBB-21D8E618CB3B}"/>
              </a:ext>
            </a:extLst>
          </p:cNvPr>
          <p:cNvSpPr>
            <a:spLocks noGrp="1"/>
          </p:cNvSpPr>
          <p:nvPr>
            <p:ph type="sldNum" sz="quarter" idx="12"/>
          </p:nvPr>
        </p:nvSpPr>
        <p:spPr/>
        <p:txBody>
          <a:bodyPr/>
          <a:lstStyle/>
          <a:p>
            <a:fld id="{4984923B-3F40-49CB-9B79-A738AB3B4A3B}" type="slidenum">
              <a:rPr lang="pt-BR" smtClean="0"/>
              <a:t>30</a:t>
            </a:fld>
            <a:endParaRPr lang="pt-BR"/>
          </a:p>
        </p:txBody>
      </p:sp>
      <p:sp>
        <p:nvSpPr>
          <p:cNvPr id="8" name="Meio-quadro 7"/>
          <p:cNvSpPr/>
          <p:nvPr/>
        </p:nvSpPr>
        <p:spPr>
          <a:xfrm>
            <a:off x="16777" y="8388"/>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29864968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E97B8AE-E7A7-20DC-57BA-2BA99775ED58}"/>
              </a:ext>
            </a:extLst>
          </p:cNvPr>
          <p:cNvSpPr>
            <a:spLocks noGrp="1"/>
          </p:cNvSpPr>
          <p:nvPr>
            <p:ph type="title"/>
          </p:nvPr>
        </p:nvSpPr>
        <p:spPr/>
        <p:txBody>
          <a:bodyPr/>
          <a:lstStyle/>
          <a:p>
            <a:r>
              <a:rPr lang="pt-BR" dirty="0"/>
              <a:t>Finalização</a:t>
            </a:r>
          </a:p>
        </p:txBody>
      </p:sp>
      <p:sp>
        <p:nvSpPr>
          <p:cNvPr id="5" name="Espaço Reservado para Conteúdo 4">
            <a:extLst>
              <a:ext uri="{FF2B5EF4-FFF2-40B4-BE49-F238E27FC236}">
                <a16:creationId xmlns:a16="http://schemas.microsoft.com/office/drawing/2014/main" id="{D7946FB3-1CFF-593A-CAD3-F72345AE3BE4}"/>
              </a:ext>
            </a:extLst>
          </p:cNvPr>
          <p:cNvSpPr>
            <a:spLocks noGrp="1"/>
          </p:cNvSpPr>
          <p:nvPr>
            <p:ph idx="1"/>
          </p:nvPr>
        </p:nvSpPr>
        <p:spPr/>
        <p:txBody>
          <a:bodyPr/>
          <a:lstStyle/>
          <a:p>
            <a:pPr marL="0" indent="0" algn="just" rtl="0" fontAlgn="base">
              <a:buNone/>
            </a:pPr>
            <a:r>
              <a:rPr lang="pt-BR" sz="1800" dirty="0">
                <a:solidFill>
                  <a:srgbClr val="000000"/>
                </a:solidFill>
              </a:rPr>
              <a:t>	</a:t>
            </a:r>
            <a:r>
              <a:rPr lang="pt-BR" sz="1800" b="0" i="0" dirty="0" smtClean="0">
                <a:solidFill>
                  <a:srgbClr val="000000"/>
                </a:solidFill>
                <a:effectLst/>
                <a:latin typeface="Times New Roman" panose="02020603050405020304" pitchFamily="18" charset="0"/>
              </a:rPr>
              <a:t>A </a:t>
            </a:r>
            <a:r>
              <a:rPr lang="pt-BR" sz="1800" b="0" i="0" dirty="0">
                <a:solidFill>
                  <a:srgbClr val="000000"/>
                </a:solidFill>
                <a:effectLst/>
                <a:latin typeface="Times New Roman" panose="02020603050405020304" pitchFamily="18" charset="0"/>
              </a:rPr>
              <a:t>tecnologia não é um fim em si mesma, mas uma poderosa extensão da nossa capacidade de resolver problemas. Quando aliamos a infraestrutura física (composta pela Nuvem, pelo Big Data, pela IA e pela IoT) à clareza do Pensamento Computacional, criamos um ecossistema onde a eficiência e a conectividade trabalham a serviço da sustentabilidade. Dominar esses pilares e compreender os algoritmos que regem o nosso cotidiano nos permite deixar de ser meros espectadores da inovação para nos tornarmos arquitetos de soluções.</a:t>
            </a:r>
            <a:endParaRPr lang="pt-BR" b="0" i="0" dirty="0">
              <a:solidFill>
                <a:srgbClr val="000000"/>
              </a:solidFill>
              <a:effectLst/>
              <a:latin typeface="arial" panose="020B0604020202020204" pitchFamily="34" charset="0"/>
            </a:endParaRPr>
          </a:p>
          <a:p>
            <a:endParaRPr lang="pt-BR" dirty="0"/>
          </a:p>
        </p:txBody>
      </p:sp>
      <p:sp>
        <p:nvSpPr>
          <p:cNvPr id="6" name="Espaço Reservado para Rodapé 5">
            <a:extLst>
              <a:ext uri="{FF2B5EF4-FFF2-40B4-BE49-F238E27FC236}">
                <a16:creationId xmlns:a16="http://schemas.microsoft.com/office/drawing/2014/main" id="{E6BC584A-DA04-9D8A-6879-270064196BA8}"/>
              </a:ext>
            </a:extLst>
          </p:cNvPr>
          <p:cNvSpPr>
            <a:spLocks noGrp="1"/>
          </p:cNvSpPr>
          <p:nvPr>
            <p:ph type="ftr" sz="quarter" idx="11"/>
          </p:nvPr>
        </p:nvSpPr>
        <p:spPr/>
        <p:txBody>
          <a:bodyPr/>
          <a:lstStyle/>
          <a:p>
            <a:r>
              <a:rPr lang="pt-BR"/>
              <a:t>EtecVav</a:t>
            </a:r>
          </a:p>
        </p:txBody>
      </p:sp>
      <p:sp>
        <p:nvSpPr>
          <p:cNvPr id="7" name="Espaço Reservado para Número de Slide 6">
            <a:extLst>
              <a:ext uri="{FF2B5EF4-FFF2-40B4-BE49-F238E27FC236}">
                <a16:creationId xmlns:a16="http://schemas.microsoft.com/office/drawing/2014/main" id="{5F1BD454-89BD-AC9C-032F-E3E1032E7A6B}"/>
              </a:ext>
            </a:extLst>
          </p:cNvPr>
          <p:cNvSpPr>
            <a:spLocks noGrp="1"/>
          </p:cNvSpPr>
          <p:nvPr>
            <p:ph type="sldNum" sz="quarter" idx="12"/>
          </p:nvPr>
        </p:nvSpPr>
        <p:spPr/>
        <p:txBody>
          <a:bodyPr/>
          <a:lstStyle/>
          <a:p>
            <a:fld id="{4984923B-3F40-49CB-9B79-A738AB3B4A3B}" type="slidenum">
              <a:rPr lang="pt-BR" smtClean="0"/>
              <a:t>31</a:t>
            </a:fld>
            <a:endParaRPr lang="pt-BR"/>
          </a:p>
        </p:txBody>
      </p:sp>
      <p:sp>
        <p:nvSpPr>
          <p:cNvPr id="2" name="Retângulo 1"/>
          <p:cNvSpPr/>
          <p:nvPr/>
        </p:nvSpPr>
        <p:spPr>
          <a:xfrm>
            <a:off x="0" y="-83127"/>
            <a:ext cx="12192000" cy="5172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565303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tângulo 11"/>
          <p:cNvSpPr/>
          <p:nvPr/>
        </p:nvSpPr>
        <p:spPr>
          <a:xfrm>
            <a:off x="0" y="0"/>
            <a:ext cx="1031846"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Título 12"/>
          <p:cNvSpPr>
            <a:spLocks noGrp="1"/>
          </p:cNvSpPr>
          <p:nvPr>
            <p:ph type="ctrTitle"/>
          </p:nvPr>
        </p:nvSpPr>
        <p:spPr>
          <a:xfrm>
            <a:off x="1524000" y="1163100"/>
            <a:ext cx="9144000" cy="2387600"/>
          </a:xfrm>
        </p:spPr>
        <p:txBody>
          <a:bodyPr/>
          <a:lstStyle/>
          <a:p>
            <a:r>
              <a:rPr lang="pt-BR" dirty="0"/>
              <a:t>Pilares da </a:t>
            </a:r>
            <a:r>
              <a:rPr lang="pt-BR" dirty="0" smtClean="0"/>
              <a:t>Computação</a:t>
            </a:r>
            <a:endParaRPr lang="pt-BR" dirty="0"/>
          </a:p>
        </p:txBody>
      </p:sp>
      <p:sp>
        <p:nvSpPr>
          <p:cNvPr id="14" name="Subtítulo 13"/>
          <p:cNvSpPr>
            <a:spLocks noGrp="1"/>
          </p:cNvSpPr>
          <p:nvPr>
            <p:ph type="subTitle" idx="1"/>
          </p:nvPr>
        </p:nvSpPr>
        <p:spPr>
          <a:xfrm>
            <a:off x="1520798" y="3695760"/>
            <a:ext cx="9144000" cy="1655762"/>
          </a:xfrm>
        </p:spPr>
        <p:txBody>
          <a:bodyPr/>
          <a:lstStyle/>
          <a:p>
            <a:r>
              <a:rPr lang="pt-BR" dirty="0"/>
              <a:t>Eduardo </a:t>
            </a:r>
            <a:r>
              <a:rPr lang="pt-BR" dirty="0" err="1"/>
              <a:t>Koehler</a:t>
            </a:r>
            <a:r>
              <a:rPr lang="pt-BR" dirty="0"/>
              <a:t> </a:t>
            </a:r>
            <a:r>
              <a:rPr lang="pt-BR" dirty="0" smtClean="0"/>
              <a:t>Oliveira – </a:t>
            </a:r>
            <a:r>
              <a:rPr lang="pt-BR" dirty="0"/>
              <a:t>11 94227-6898</a:t>
            </a:r>
          </a:p>
          <a:p>
            <a:r>
              <a:rPr lang="pt-BR" dirty="0"/>
              <a:t>Giovanni </a:t>
            </a:r>
            <a:r>
              <a:rPr lang="pt-BR" dirty="0" err="1" smtClean="0"/>
              <a:t>Rovesta</a:t>
            </a:r>
            <a:r>
              <a:rPr lang="pt-BR" dirty="0" smtClean="0"/>
              <a:t> – </a:t>
            </a:r>
            <a:r>
              <a:rPr lang="pt-BR" dirty="0"/>
              <a:t>11 96861-7515</a:t>
            </a:r>
          </a:p>
          <a:p>
            <a:endParaRPr lang="pt-BR" dirty="0"/>
          </a:p>
        </p:txBody>
      </p:sp>
      <p:sp>
        <p:nvSpPr>
          <p:cNvPr id="4" name="Espaço Reservado para Rodapé 3"/>
          <p:cNvSpPr>
            <a:spLocks noGrp="1"/>
          </p:cNvSpPr>
          <p:nvPr>
            <p:ph type="ftr" sz="quarter" idx="11"/>
          </p:nvPr>
        </p:nvSpPr>
        <p:spPr/>
        <p:txBody>
          <a:bodyPr/>
          <a:lstStyle/>
          <a:p>
            <a:r>
              <a:rPr lang="pt-BR" smtClean="0"/>
              <a:t>EtecVav</a:t>
            </a:r>
            <a:endParaRPr lang="pt-BR"/>
          </a:p>
        </p:txBody>
      </p:sp>
      <p:sp>
        <p:nvSpPr>
          <p:cNvPr id="5" name="Espaço Reservado para Número de Slide 4"/>
          <p:cNvSpPr>
            <a:spLocks noGrp="1"/>
          </p:cNvSpPr>
          <p:nvPr>
            <p:ph type="sldNum" sz="quarter" idx="12"/>
          </p:nvPr>
        </p:nvSpPr>
        <p:spPr/>
        <p:txBody>
          <a:bodyPr/>
          <a:lstStyle/>
          <a:p>
            <a:fld id="{4984923B-3F40-49CB-9B79-A738AB3B4A3B}" type="slidenum">
              <a:rPr lang="pt-BR" smtClean="0"/>
              <a:t>32</a:t>
            </a:fld>
            <a:endParaRPr lang="pt-BR"/>
          </a:p>
        </p:txBody>
      </p:sp>
      <p:sp>
        <p:nvSpPr>
          <p:cNvPr id="8" name="CaixaDeTexto 7">
            <a:extLst>
              <a:ext uri="{FF2B5EF4-FFF2-40B4-BE49-F238E27FC236}">
                <a16:creationId xmlns:a16="http://schemas.microsoft.com/office/drawing/2014/main" id="{BEDF57F8-EEC8-CB8B-F0D4-D012F23BFAB6}"/>
              </a:ext>
            </a:extLst>
          </p:cNvPr>
          <p:cNvSpPr txBox="1"/>
          <p:nvPr/>
        </p:nvSpPr>
        <p:spPr>
          <a:xfrm>
            <a:off x="5310231" y="6035423"/>
            <a:ext cx="1565134" cy="369332"/>
          </a:xfrm>
          <a:prstGeom prst="rect">
            <a:avLst/>
          </a:prstGeom>
          <a:noFill/>
        </p:spPr>
        <p:txBody>
          <a:bodyPr wrap="square" rtlCol="0">
            <a:spAutoFit/>
          </a:bodyPr>
          <a:lstStyle/>
          <a:p>
            <a:r>
              <a:rPr lang="pt-BR" dirty="0" smtClean="0"/>
              <a:t>27/04/2026</a:t>
            </a:r>
            <a:endParaRPr lang="pt-BR" dirty="0"/>
          </a:p>
        </p:txBody>
      </p:sp>
      <p:sp>
        <p:nvSpPr>
          <p:cNvPr id="11" name="Retângulo 10"/>
          <p:cNvSpPr/>
          <p:nvPr/>
        </p:nvSpPr>
        <p:spPr>
          <a:xfrm>
            <a:off x="11160154" y="0"/>
            <a:ext cx="1031846"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Meio-quadro 8"/>
          <p:cNvSpPr/>
          <p:nvPr/>
        </p:nvSpPr>
        <p:spPr>
          <a:xfrm>
            <a:off x="8388" y="-8390"/>
            <a:ext cx="1501629" cy="1275127"/>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 name="Meio-quadro 9"/>
          <p:cNvSpPr/>
          <p:nvPr/>
        </p:nvSpPr>
        <p:spPr>
          <a:xfrm rot="5400000">
            <a:off x="10792436" y="-124436"/>
            <a:ext cx="1275128" cy="1524000"/>
          </a:xfrm>
          <a:prstGeom prst="half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45189398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1085</Words>
  <Application>Microsoft Office PowerPoint</Application>
  <PresentationFormat>Widescreen</PresentationFormat>
  <Paragraphs>139</Paragraphs>
  <Slides>32</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32</vt:i4>
      </vt:variant>
    </vt:vector>
  </HeadingPairs>
  <TitlesOfParts>
    <vt:vector size="39" baseType="lpstr">
      <vt:lpstr>Aptos</vt:lpstr>
      <vt:lpstr>Aptos Display</vt:lpstr>
      <vt:lpstr>Arial</vt:lpstr>
      <vt:lpstr>Arial</vt:lpstr>
      <vt:lpstr>Book Antiqua</vt:lpstr>
      <vt:lpstr>Times New Roman</vt:lpstr>
      <vt:lpstr>Tema do Office</vt:lpstr>
      <vt:lpstr>Pilares da Computação</vt:lpstr>
      <vt:lpstr>Apresentadores</vt:lpstr>
      <vt:lpstr>Sumário</vt:lpstr>
      <vt:lpstr>        Resumo</vt:lpstr>
      <vt:lpstr>Resumo</vt:lpstr>
      <vt:lpstr>        Abstract</vt:lpstr>
      <vt:lpstr>Abstract</vt:lpstr>
      <vt:lpstr> Introdução</vt:lpstr>
      <vt:lpstr>Introdução</vt:lpstr>
      <vt:lpstr> A Tecnologia no Nosso Dia a Dia</vt:lpstr>
      <vt:lpstr>A Tecnologia no Nosso Dia a Dia</vt:lpstr>
      <vt:lpstr>          Inteligência Artificial </vt:lpstr>
      <vt:lpstr>Inteligência Artificial</vt:lpstr>
      <vt:lpstr>    Os 3 Pilares da Tecnologia </vt:lpstr>
      <vt:lpstr>Os 3 Pilares da Tecnologia</vt:lpstr>
      <vt:lpstr>      Cloud Computing </vt:lpstr>
      <vt:lpstr>Cloud Computing </vt:lpstr>
      <vt:lpstr>     Big Data &amp; Analytics</vt:lpstr>
      <vt:lpstr>Big Data &amp; Analytics</vt:lpstr>
      <vt:lpstr>      Inteligência Artificial (2)</vt:lpstr>
      <vt:lpstr>Inteligência Artificial 2</vt:lpstr>
      <vt:lpstr>         IoT</vt:lpstr>
      <vt:lpstr>IoT</vt:lpstr>
      <vt:lpstr>      Decomposição</vt:lpstr>
      <vt:lpstr>Decomposição</vt:lpstr>
      <vt:lpstr>      Abstração</vt:lpstr>
      <vt:lpstr>Abstração</vt:lpstr>
      <vt:lpstr>     Algoritmos</vt:lpstr>
      <vt:lpstr>Algoritmos</vt:lpstr>
      <vt:lpstr>     Finalização</vt:lpstr>
      <vt:lpstr>Finalização</vt:lpstr>
      <vt:lpstr>Pilares da Computação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Pilares da Computação</dc:title>
  <dc:creator>Cinthia Koehler</dc:creator>
  <cp:lastModifiedBy>EtecVAV</cp:lastModifiedBy>
  <cp:revision>16</cp:revision>
  <dcterms:created xsi:type="dcterms:W3CDTF">2026-04-27T20:48:22Z</dcterms:created>
  <dcterms:modified xsi:type="dcterms:W3CDTF">2026-05-05T15:38:09Z</dcterms:modified>
</cp:coreProperties>
</file>